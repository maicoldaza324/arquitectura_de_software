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24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2252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03A4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2252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03A4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2252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03A4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2252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03A4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03A4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7F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393731"/>
            <a:ext cx="759587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2252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099" y="1090612"/>
            <a:ext cx="11353800" cy="3611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6428989"/>
            <a:ext cx="3451860" cy="393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03A4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508031"/>
            <a:ext cx="464248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55" dirty="0">
                <a:solidFill>
                  <a:srgbClr val="0A6F83"/>
                </a:solidFill>
                <a:latin typeface="Courier New"/>
                <a:cs typeface="Courier New"/>
              </a:rPr>
              <a:t>ACTIVIDAD</a:t>
            </a:r>
            <a:r>
              <a:rPr sz="1150" spc="1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A6F83"/>
                </a:solidFill>
                <a:latin typeface="Courier New"/>
                <a:cs typeface="Courier New"/>
              </a:rPr>
              <a:t>DE</a:t>
            </a:r>
            <a:r>
              <a:rPr sz="1150" spc="1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spc="55" dirty="0">
                <a:solidFill>
                  <a:srgbClr val="0A6F83"/>
                </a:solidFill>
                <a:latin typeface="Courier New"/>
                <a:cs typeface="Courier New"/>
              </a:rPr>
              <a:t>ARQUITECTURA</a:t>
            </a:r>
            <a:r>
              <a:rPr sz="1150" spc="1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A6F83"/>
                </a:solidFill>
                <a:latin typeface="Courier New"/>
                <a:cs typeface="Courier New"/>
              </a:rPr>
              <a:t>DE</a:t>
            </a:r>
            <a:r>
              <a:rPr sz="1150" spc="1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spc="55" dirty="0">
                <a:solidFill>
                  <a:srgbClr val="0A6F83"/>
                </a:solidFill>
                <a:latin typeface="Courier New"/>
                <a:cs typeface="Courier New"/>
              </a:rPr>
              <a:t>SOFTWARE</a:t>
            </a:r>
            <a:r>
              <a:rPr sz="1150" spc="1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A6F83"/>
                </a:solidFill>
                <a:latin typeface="Courier New"/>
                <a:cs typeface="Courier New"/>
              </a:rPr>
              <a:t>·</a:t>
            </a:r>
            <a:r>
              <a:rPr sz="1150" spc="1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spc="50" dirty="0">
                <a:solidFill>
                  <a:srgbClr val="0A6F83"/>
                </a:solidFill>
                <a:latin typeface="Courier New"/>
                <a:cs typeface="Courier New"/>
              </a:rPr>
              <a:t>EQUIPO</a:t>
            </a:r>
            <a:r>
              <a:rPr sz="1150" spc="175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0A6F83"/>
                </a:solidFill>
                <a:latin typeface="Courier New"/>
                <a:cs typeface="Courier New"/>
              </a:rPr>
              <a:t>4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733488"/>
            <a:ext cx="5462270" cy="16427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595"/>
              </a:spcBef>
            </a:pPr>
            <a:r>
              <a:rPr sz="3800" spc="-35" dirty="0"/>
              <a:t>Sistema</a:t>
            </a:r>
            <a:r>
              <a:rPr sz="3800" spc="-260" dirty="0"/>
              <a:t> </a:t>
            </a:r>
            <a:r>
              <a:rPr sz="3800" spc="-50" dirty="0"/>
              <a:t>de</a:t>
            </a:r>
            <a:r>
              <a:rPr sz="3800" spc="-260" dirty="0"/>
              <a:t> </a:t>
            </a:r>
            <a:r>
              <a:rPr sz="3800" spc="-45" dirty="0"/>
              <a:t>préstamos</a:t>
            </a:r>
            <a:r>
              <a:rPr sz="3800" spc="-254" dirty="0"/>
              <a:t> </a:t>
            </a:r>
            <a:r>
              <a:rPr sz="3800" spc="-25" dirty="0"/>
              <a:t>de </a:t>
            </a:r>
            <a:r>
              <a:rPr sz="3800" spc="-10" dirty="0"/>
              <a:t>equipos:</a:t>
            </a:r>
            <a:endParaRPr sz="3800"/>
          </a:p>
          <a:p>
            <a:pPr marL="12700">
              <a:lnSpc>
                <a:spcPts val="3979"/>
              </a:lnSpc>
            </a:pPr>
            <a:r>
              <a:rPr sz="3800" spc="-135" dirty="0"/>
              <a:t>arquitectura</a:t>
            </a:r>
            <a:r>
              <a:rPr sz="3800" spc="-229" dirty="0"/>
              <a:t> </a:t>
            </a:r>
            <a:r>
              <a:rPr sz="3800" spc="-70" dirty="0"/>
              <a:t>orientada</a:t>
            </a:r>
            <a:r>
              <a:rPr sz="3800" spc="-225" dirty="0"/>
              <a:t> </a:t>
            </a:r>
            <a:r>
              <a:rPr sz="3800" spc="-50" dirty="0"/>
              <a:t>a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444500" y="2295588"/>
            <a:ext cx="5503545" cy="149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12252A"/>
                </a:solidFill>
                <a:latin typeface="Trebuchet MS"/>
                <a:cs typeface="Trebuchet MS"/>
              </a:rPr>
              <a:t>eventos</a:t>
            </a:r>
            <a:endParaRPr sz="3800">
              <a:latin typeface="Trebuchet MS"/>
              <a:cs typeface="Trebuchet MS"/>
            </a:endParaRPr>
          </a:p>
          <a:p>
            <a:pPr marL="12700" marR="5080">
              <a:lnSpc>
                <a:spcPct val="118400"/>
              </a:lnSpc>
              <a:spcBef>
                <a:spcPts val="1645"/>
              </a:spcBef>
            </a:pP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Implementación</a:t>
            </a:r>
            <a:r>
              <a:rPr sz="1900" spc="10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en</a:t>
            </a:r>
            <a:r>
              <a:rPr sz="1900" spc="15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Python</a:t>
            </a:r>
            <a:r>
              <a:rPr sz="1900" spc="15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con</a:t>
            </a:r>
            <a:r>
              <a:rPr sz="1900" spc="15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4A646A"/>
                </a:solidFill>
                <a:latin typeface="Trebuchet MS"/>
                <a:cs typeface="Trebuchet MS"/>
              </a:rPr>
              <a:t>un</a:t>
            </a:r>
            <a:r>
              <a:rPr sz="1900" spc="15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4A646A"/>
                </a:solidFill>
                <a:latin typeface="Trebuchet MS"/>
                <a:cs typeface="Trebuchet MS"/>
              </a:rPr>
              <a:t>bus</a:t>
            </a:r>
            <a:r>
              <a:rPr sz="1900" spc="10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de</a:t>
            </a:r>
            <a:r>
              <a:rPr sz="1900" spc="15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A646A"/>
                </a:solidFill>
                <a:latin typeface="Trebuchet MS"/>
                <a:cs typeface="Trebuchet MS"/>
              </a:rPr>
              <a:t>eventos </a:t>
            </a: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síncrono</a:t>
            </a:r>
            <a:r>
              <a:rPr sz="1900" spc="95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4A646A"/>
                </a:solidFill>
                <a:latin typeface="Trebuchet MS"/>
                <a:cs typeface="Trebuchet MS"/>
              </a:rPr>
              <a:t>en</a:t>
            </a:r>
            <a:r>
              <a:rPr sz="1900" spc="100" dirty="0">
                <a:solidFill>
                  <a:srgbClr val="4A646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A646A"/>
                </a:solidFill>
                <a:latin typeface="Trebuchet MS"/>
                <a:cs typeface="Trebuchet MS"/>
              </a:rPr>
              <a:t>memoria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199" y="4114799"/>
            <a:ext cx="2047875" cy="28575"/>
          </a:xfrm>
          <a:custGeom>
            <a:avLst/>
            <a:gdLst/>
            <a:ahLst/>
            <a:cxnLst/>
            <a:rect l="l" t="t" r="r" b="b"/>
            <a:pathLst>
              <a:path w="2047875" h="28575">
                <a:moveTo>
                  <a:pt x="2035481" y="28574"/>
                </a:moveTo>
                <a:lnTo>
                  <a:pt x="12392" y="28574"/>
                </a:lnTo>
                <a:lnTo>
                  <a:pt x="10570" y="28211"/>
                </a:lnTo>
                <a:lnTo>
                  <a:pt x="0" y="16181"/>
                </a:lnTo>
                <a:lnTo>
                  <a:pt x="0" y="14287"/>
                </a:lnTo>
                <a:lnTo>
                  <a:pt x="0" y="12392"/>
                </a:lnTo>
                <a:lnTo>
                  <a:pt x="12392" y="0"/>
                </a:lnTo>
                <a:lnTo>
                  <a:pt x="2035481" y="0"/>
                </a:lnTo>
                <a:lnTo>
                  <a:pt x="2047874" y="12392"/>
                </a:lnTo>
                <a:lnTo>
                  <a:pt x="2047874" y="16181"/>
                </a:lnTo>
                <a:lnTo>
                  <a:pt x="2037304" y="28211"/>
                </a:lnTo>
                <a:lnTo>
                  <a:pt x="2035481" y="28574"/>
                </a:lnTo>
                <a:close/>
              </a:path>
            </a:pathLst>
          </a:custGeom>
          <a:solidFill>
            <a:srgbClr val="0A6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1962" y="452913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99" y="133349"/>
                </a:moveTo>
                <a:lnTo>
                  <a:pt x="260959" y="172059"/>
                </a:lnTo>
                <a:lnTo>
                  <a:pt x="244226" y="207434"/>
                </a:lnTo>
                <a:lnTo>
                  <a:pt x="217947" y="236431"/>
                </a:lnTo>
                <a:lnTo>
                  <a:pt x="184380" y="256548"/>
                </a:lnTo>
                <a:lnTo>
                  <a:pt x="146420" y="266059"/>
                </a:lnTo>
                <a:lnTo>
                  <a:pt x="133349" y="266699"/>
                </a:lnTo>
                <a:lnTo>
                  <a:pt x="126798" y="266539"/>
                </a:lnTo>
                <a:lnTo>
                  <a:pt x="88432" y="258907"/>
                </a:lnTo>
                <a:lnTo>
                  <a:pt x="53906" y="240453"/>
                </a:lnTo>
                <a:lnTo>
                  <a:pt x="26246" y="212793"/>
                </a:lnTo>
                <a:lnTo>
                  <a:pt x="7791" y="178266"/>
                </a:lnTo>
                <a:lnTo>
                  <a:pt x="160" y="13990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0"/>
                </a:lnTo>
                <a:lnTo>
                  <a:pt x="212793" y="26245"/>
                </a:lnTo>
                <a:lnTo>
                  <a:pt x="240453" y="53905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962" y="5233987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0" y="142874"/>
                </a:move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5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5"/>
                </a:lnTo>
                <a:lnTo>
                  <a:pt x="240453" y="53905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699" y="142874"/>
                </a:lnTo>
                <a:lnTo>
                  <a:pt x="260959" y="181583"/>
                </a:lnTo>
                <a:lnTo>
                  <a:pt x="244226" y="216959"/>
                </a:lnTo>
                <a:lnTo>
                  <a:pt x="217947" y="245956"/>
                </a:lnTo>
                <a:lnTo>
                  <a:pt x="184380" y="266073"/>
                </a:lnTo>
                <a:lnTo>
                  <a:pt x="146420" y="275584"/>
                </a:lnTo>
                <a:lnTo>
                  <a:pt x="133349" y="276224"/>
                </a:lnTo>
                <a:lnTo>
                  <a:pt x="126798" y="276064"/>
                </a:lnTo>
                <a:lnTo>
                  <a:pt x="88432" y="268433"/>
                </a:lnTo>
                <a:lnTo>
                  <a:pt x="53906" y="249977"/>
                </a:lnTo>
                <a:lnTo>
                  <a:pt x="26246" y="222317"/>
                </a:lnTo>
                <a:lnTo>
                  <a:pt x="7791" y="187791"/>
                </a:lnTo>
                <a:lnTo>
                  <a:pt x="160" y="149426"/>
                </a:lnTo>
                <a:lnTo>
                  <a:pt x="0" y="142874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1962" y="5948362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0" y="142874"/>
                </a:moveTo>
                <a:lnTo>
                  <a:pt x="0" y="133349"/>
                </a:lnTo>
                <a:lnTo>
                  <a:pt x="160" y="126798"/>
                </a:lnTo>
                <a:lnTo>
                  <a:pt x="7791" y="88431"/>
                </a:lnTo>
                <a:lnTo>
                  <a:pt x="26246" y="53905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5"/>
                </a:lnTo>
                <a:lnTo>
                  <a:pt x="240453" y="53905"/>
                </a:lnTo>
                <a:lnTo>
                  <a:pt x="258908" y="88431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699" y="142874"/>
                </a:lnTo>
                <a:lnTo>
                  <a:pt x="260959" y="181583"/>
                </a:lnTo>
                <a:lnTo>
                  <a:pt x="244226" y="216959"/>
                </a:lnTo>
                <a:lnTo>
                  <a:pt x="217947" y="245956"/>
                </a:lnTo>
                <a:lnTo>
                  <a:pt x="184380" y="266073"/>
                </a:lnTo>
                <a:lnTo>
                  <a:pt x="146420" y="275583"/>
                </a:lnTo>
                <a:lnTo>
                  <a:pt x="133349" y="276224"/>
                </a:lnTo>
                <a:lnTo>
                  <a:pt x="126798" y="276064"/>
                </a:lnTo>
                <a:lnTo>
                  <a:pt x="88432" y="268432"/>
                </a:lnTo>
                <a:lnTo>
                  <a:pt x="53906" y="249977"/>
                </a:lnTo>
                <a:lnTo>
                  <a:pt x="26246" y="222317"/>
                </a:lnTo>
                <a:lnTo>
                  <a:pt x="7791" y="187791"/>
                </a:lnTo>
                <a:lnTo>
                  <a:pt x="160" y="149425"/>
                </a:lnTo>
                <a:lnTo>
                  <a:pt x="0" y="142874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2125" y="4471022"/>
            <a:ext cx="5953760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 marR="292735" indent="-383540">
              <a:lnSpc>
                <a:spcPct val="120500"/>
              </a:lnSpc>
              <a:spcBef>
                <a:spcPts val="100"/>
              </a:spcBef>
              <a:buClr>
                <a:srgbClr val="0A6F83"/>
              </a:buClr>
              <a:buSzPct val="85714"/>
              <a:buFont typeface="Courier New"/>
              <a:buAutoNum type="arabicPlain"/>
              <a:tabLst>
                <a:tab pos="395605" algn="l"/>
              </a:tabLst>
            </a:pP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Recibir</a:t>
            </a:r>
            <a:r>
              <a:rPr sz="14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solicitudes</a:t>
            </a:r>
            <a:r>
              <a:rPr sz="1400" spc="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4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préstamo,</a:t>
            </a:r>
            <a:r>
              <a:rPr sz="1400" spc="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03A40"/>
                </a:solidFill>
                <a:latin typeface="Trebuchet MS"/>
                <a:cs typeface="Trebuchet MS"/>
              </a:rPr>
              <a:t>verificar</a:t>
            </a:r>
            <a:r>
              <a:rPr sz="14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disponibilidad</a:t>
            </a:r>
            <a:r>
              <a:rPr sz="1400" spc="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4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decidir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aprobación</a:t>
            </a:r>
            <a:r>
              <a:rPr sz="1400" spc="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203A40"/>
                </a:solidFill>
                <a:latin typeface="Trebuchet MS"/>
                <a:cs typeface="Trebuchet MS"/>
              </a:rPr>
              <a:t>o</a:t>
            </a:r>
            <a:r>
              <a:rPr sz="14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rechazo.</a:t>
            </a:r>
            <a:endParaRPr sz="1400">
              <a:latin typeface="Trebuchet MS"/>
              <a:cs typeface="Trebuchet MS"/>
            </a:endParaRPr>
          </a:p>
          <a:p>
            <a:pPr marL="395605" marR="5080" indent="-383540">
              <a:lnSpc>
                <a:spcPct val="120500"/>
              </a:lnSpc>
              <a:spcBef>
                <a:spcPts val="1575"/>
              </a:spcBef>
              <a:buClr>
                <a:srgbClr val="0A6F83"/>
              </a:buClr>
              <a:buSzPct val="85714"/>
              <a:buFont typeface="Courier New"/>
              <a:buAutoNum type="arabicPlain"/>
              <a:tabLst>
                <a:tab pos="395605" algn="l"/>
              </a:tabLst>
            </a:pP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Separar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la decisión de </a:t>
            </a:r>
            <a:r>
              <a:rPr sz="1400" spc="70" dirty="0">
                <a:solidFill>
                  <a:srgbClr val="203A40"/>
                </a:solidFill>
                <a:latin typeface="Trebuchet MS"/>
                <a:cs typeface="Trebuchet MS"/>
              </a:rPr>
              <a:t>sus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 efectos mediante eventos y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consumidores registrados.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0A6F83"/>
              </a:buClr>
              <a:buFont typeface="Courier New"/>
              <a:buAutoNum type="arabicPlain"/>
            </a:pPr>
            <a:endParaRPr sz="1400">
              <a:latin typeface="Trebuchet MS"/>
              <a:cs typeface="Trebuchet MS"/>
            </a:endParaRPr>
          </a:p>
          <a:p>
            <a:pPr marL="396875" indent="-384175">
              <a:lnSpc>
                <a:spcPct val="100000"/>
              </a:lnSpc>
              <a:buClr>
                <a:srgbClr val="0A6F83"/>
              </a:buClr>
              <a:buSzPct val="85714"/>
              <a:buFont typeface="Courier New"/>
              <a:buAutoNum type="arabicPlain"/>
              <a:tabLst>
                <a:tab pos="396875" algn="l"/>
              </a:tabLst>
            </a:pP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Mostrar</a:t>
            </a:r>
            <a:r>
              <a:rPr sz="14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final</a:t>
            </a:r>
            <a:r>
              <a:rPr sz="14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reporte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4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solicitudes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procesadas.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" y="5129212"/>
            <a:ext cx="6219825" cy="9525"/>
          </a:xfrm>
          <a:custGeom>
            <a:avLst/>
            <a:gdLst/>
            <a:ahLst/>
            <a:cxnLst/>
            <a:rect l="l" t="t" r="r" b="b"/>
            <a:pathLst>
              <a:path w="6219825" h="9525">
                <a:moveTo>
                  <a:pt x="6219824" y="9524"/>
                </a:moveTo>
                <a:lnTo>
                  <a:pt x="0" y="9524"/>
                </a:lnTo>
                <a:lnTo>
                  <a:pt x="0" y="0"/>
                </a:lnTo>
                <a:lnTo>
                  <a:pt x="6219824" y="0"/>
                </a:lnTo>
                <a:lnTo>
                  <a:pt x="6219824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200" y="5843587"/>
            <a:ext cx="6219825" cy="9525"/>
          </a:xfrm>
          <a:custGeom>
            <a:avLst/>
            <a:gdLst/>
            <a:ahLst/>
            <a:cxnLst/>
            <a:rect l="l" t="t" r="r" b="b"/>
            <a:pathLst>
              <a:path w="6219825" h="9525">
                <a:moveTo>
                  <a:pt x="6219824" y="9524"/>
                </a:moveTo>
                <a:lnTo>
                  <a:pt x="0" y="9524"/>
                </a:lnTo>
                <a:lnTo>
                  <a:pt x="0" y="0"/>
                </a:lnTo>
                <a:lnTo>
                  <a:pt x="6219824" y="0"/>
                </a:lnTo>
                <a:lnTo>
                  <a:pt x="6219824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7439024" y="0"/>
            <a:ext cx="4752975" cy="6858000"/>
            <a:chOff x="7439024" y="0"/>
            <a:chExt cx="4752975" cy="68580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9024" y="0"/>
              <a:ext cx="4752974" cy="6857999"/>
            </a:xfrm>
            <a:prstGeom prst="rect">
              <a:avLst/>
            </a:prstGeom>
          </p:spPr>
        </p:pic>
        <p:pic>
          <p:nvPicPr>
            <p:cNvPr id="14" name="object 1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393731"/>
            <a:ext cx="3388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Qué</a:t>
            </a:r>
            <a:r>
              <a:rPr spc="-195" dirty="0"/>
              <a:t> </a:t>
            </a:r>
            <a:r>
              <a:rPr spc="-20" dirty="0"/>
              <a:t>vamos</a:t>
            </a:r>
            <a:r>
              <a:rPr spc="-195" dirty="0"/>
              <a:t> </a:t>
            </a:r>
            <a:r>
              <a:rPr dirty="0"/>
              <a:t>a</a:t>
            </a:r>
            <a:r>
              <a:rPr spc="-195" dirty="0"/>
              <a:t> </a:t>
            </a:r>
            <a:r>
              <a:rPr spc="-25" dirty="0"/>
              <a:t>mostrar</a:t>
            </a:r>
          </a:p>
        </p:txBody>
      </p:sp>
      <p:sp>
        <p:nvSpPr>
          <p:cNvPr id="3" name="object 3"/>
          <p:cNvSpPr/>
          <p:nvPr/>
        </p:nvSpPr>
        <p:spPr>
          <a:xfrm>
            <a:off x="461962" y="1347787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0" y="142874"/>
                </a:move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699" y="142874"/>
                </a:lnTo>
                <a:lnTo>
                  <a:pt x="260959" y="181584"/>
                </a:lnTo>
                <a:lnTo>
                  <a:pt x="244226" y="216960"/>
                </a:lnTo>
                <a:lnTo>
                  <a:pt x="217947" y="245957"/>
                </a:lnTo>
                <a:lnTo>
                  <a:pt x="184380" y="266074"/>
                </a:lnTo>
                <a:lnTo>
                  <a:pt x="146420" y="275584"/>
                </a:lnTo>
                <a:lnTo>
                  <a:pt x="133349" y="276224"/>
                </a:lnTo>
                <a:lnTo>
                  <a:pt x="126798" y="276064"/>
                </a:lnTo>
                <a:lnTo>
                  <a:pt x="88432" y="268433"/>
                </a:lnTo>
                <a:lnTo>
                  <a:pt x="53906" y="249978"/>
                </a:lnTo>
                <a:lnTo>
                  <a:pt x="26246" y="222318"/>
                </a:lnTo>
                <a:lnTo>
                  <a:pt x="7791" y="187792"/>
                </a:lnTo>
                <a:lnTo>
                  <a:pt x="160" y="149426"/>
                </a:lnTo>
                <a:lnTo>
                  <a:pt x="0" y="142874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2125" y="1275708"/>
            <a:ext cx="709803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 marR="5080" indent="-383540">
              <a:lnSpc>
                <a:spcPct val="117200"/>
              </a:lnSpc>
              <a:spcBef>
                <a:spcPts val="100"/>
              </a:spcBef>
            </a:pPr>
            <a:r>
              <a:rPr sz="1200" dirty="0">
                <a:solidFill>
                  <a:srgbClr val="0A6F83"/>
                </a:solidFill>
                <a:latin typeface="Courier New"/>
                <a:cs typeface="Courier New"/>
              </a:rPr>
              <a:t>01</a:t>
            </a:r>
            <a:r>
              <a:rPr sz="1200" spc="185" dirty="0">
                <a:solidFill>
                  <a:srgbClr val="0A6F83"/>
                </a:solid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problema: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administrar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préstamos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equipos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memoria,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sin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base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de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datos.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7200" y="2252662"/>
            <a:ext cx="7677150" cy="9525"/>
          </a:xfrm>
          <a:custGeom>
            <a:avLst/>
            <a:gdLst/>
            <a:ahLst/>
            <a:cxnLst/>
            <a:rect l="l" t="t" r="r" b="b"/>
            <a:pathLst>
              <a:path w="7677150" h="9525">
                <a:moveTo>
                  <a:pt x="7677149" y="9524"/>
                </a:moveTo>
                <a:lnTo>
                  <a:pt x="0" y="9524"/>
                </a:lnTo>
                <a:lnTo>
                  <a:pt x="0" y="0"/>
                </a:lnTo>
                <a:lnTo>
                  <a:pt x="7677149" y="0"/>
                </a:lnTo>
                <a:lnTo>
                  <a:pt x="767714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1962" y="264318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99" y="133349"/>
                </a:moveTo>
                <a:lnTo>
                  <a:pt x="260959" y="172059"/>
                </a:lnTo>
                <a:lnTo>
                  <a:pt x="244226" y="207435"/>
                </a:lnTo>
                <a:lnTo>
                  <a:pt x="217947" y="236432"/>
                </a:lnTo>
                <a:lnTo>
                  <a:pt x="184380" y="256549"/>
                </a:lnTo>
                <a:lnTo>
                  <a:pt x="146420" y="266059"/>
                </a:lnTo>
                <a:lnTo>
                  <a:pt x="133349" y="266699"/>
                </a:lnTo>
                <a:lnTo>
                  <a:pt x="126798" y="266539"/>
                </a:lnTo>
                <a:lnTo>
                  <a:pt x="88432" y="258908"/>
                </a:lnTo>
                <a:lnTo>
                  <a:pt x="53906" y="240453"/>
                </a:lnTo>
                <a:lnTo>
                  <a:pt x="26246" y="212793"/>
                </a:lnTo>
                <a:lnTo>
                  <a:pt x="7791" y="178266"/>
                </a:lnTo>
                <a:lnTo>
                  <a:pt x="160" y="13990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2125" y="2613056"/>
            <a:ext cx="54997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A6F83"/>
                </a:solidFill>
                <a:latin typeface="Courier New"/>
                <a:cs typeface="Courier New"/>
              </a:rPr>
              <a:t>02</a:t>
            </a:r>
            <a:r>
              <a:rPr sz="1200" spc="140" dirty="0">
                <a:solidFill>
                  <a:srgbClr val="0A6F83"/>
                </a:solid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Por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qué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elegimos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Python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un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03A40"/>
                </a:solidFill>
                <a:latin typeface="Trebuchet MS"/>
                <a:cs typeface="Trebuchet MS"/>
              </a:rPr>
              <a:t>bus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eventos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síncrono.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200" y="3262312"/>
            <a:ext cx="7677150" cy="9525"/>
          </a:xfrm>
          <a:custGeom>
            <a:avLst/>
            <a:gdLst/>
            <a:ahLst/>
            <a:cxnLst/>
            <a:rect l="l" t="t" r="r" b="b"/>
            <a:pathLst>
              <a:path w="7677150" h="9525">
                <a:moveTo>
                  <a:pt x="7677149" y="9524"/>
                </a:moveTo>
                <a:lnTo>
                  <a:pt x="0" y="9524"/>
                </a:lnTo>
                <a:lnTo>
                  <a:pt x="0" y="0"/>
                </a:lnTo>
                <a:lnTo>
                  <a:pt x="7677149" y="0"/>
                </a:lnTo>
                <a:lnTo>
                  <a:pt x="767714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962" y="365283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99" y="133349"/>
                </a:moveTo>
                <a:lnTo>
                  <a:pt x="260959" y="172059"/>
                </a:lnTo>
                <a:lnTo>
                  <a:pt x="244226" y="207434"/>
                </a:lnTo>
                <a:lnTo>
                  <a:pt x="217947" y="236431"/>
                </a:lnTo>
                <a:lnTo>
                  <a:pt x="184380" y="256548"/>
                </a:lnTo>
                <a:lnTo>
                  <a:pt x="146420" y="266059"/>
                </a:lnTo>
                <a:lnTo>
                  <a:pt x="133349" y="266699"/>
                </a:lnTo>
                <a:lnTo>
                  <a:pt x="126798" y="266539"/>
                </a:lnTo>
                <a:lnTo>
                  <a:pt x="88432" y="258907"/>
                </a:lnTo>
                <a:lnTo>
                  <a:pt x="53906" y="240453"/>
                </a:lnTo>
                <a:lnTo>
                  <a:pt x="26246" y="212793"/>
                </a:lnTo>
                <a:lnTo>
                  <a:pt x="7791" y="178266"/>
                </a:lnTo>
                <a:lnTo>
                  <a:pt x="160" y="13990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5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2125" y="3622706"/>
            <a:ext cx="57765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A6F83"/>
                </a:solidFill>
                <a:latin typeface="Courier New"/>
                <a:cs typeface="Courier New"/>
              </a:rPr>
              <a:t>03</a:t>
            </a:r>
            <a:r>
              <a:rPr sz="1200" spc="114" dirty="0">
                <a:solidFill>
                  <a:srgbClr val="0A6F83"/>
                </a:solid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Cómo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separan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manejador,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03A40"/>
                </a:solidFill>
                <a:latin typeface="Trebuchet MS"/>
                <a:cs typeface="Trebuchet MS"/>
              </a:rPr>
              <a:t>bus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los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consumidores.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" y="4271962"/>
            <a:ext cx="7677150" cy="9525"/>
          </a:xfrm>
          <a:custGeom>
            <a:avLst/>
            <a:gdLst/>
            <a:ahLst/>
            <a:cxnLst/>
            <a:rect l="l" t="t" r="r" b="b"/>
            <a:pathLst>
              <a:path w="7677150" h="9525">
                <a:moveTo>
                  <a:pt x="7677149" y="9524"/>
                </a:moveTo>
                <a:lnTo>
                  <a:pt x="0" y="9524"/>
                </a:lnTo>
                <a:lnTo>
                  <a:pt x="0" y="0"/>
                </a:lnTo>
                <a:lnTo>
                  <a:pt x="7677149" y="0"/>
                </a:lnTo>
                <a:lnTo>
                  <a:pt x="767714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1962" y="4662487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0" y="142874"/>
                </a:move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0"/>
                </a:lnTo>
                <a:lnTo>
                  <a:pt x="212793" y="26245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699" y="142874"/>
                </a:lnTo>
                <a:lnTo>
                  <a:pt x="260959" y="181584"/>
                </a:lnTo>
                <a:lnTo>
                  <a:pt x="244226" y="216959"/>
                </a:lnTo>
                <a:lnTo>
                  <a:pt x="217947" y="245956"/>
                </a:lnTo>
                <a:lnTo>
                  <a:pt x="184380" y="266073"/>
                </a:lnTo>
                <a:lnTo>
                  <a:pt x="146420" y="275583"/>
                </a:lnTo>
                <a:lnTo>
                  <a:pt x="133349" y="276224"/>
                </a:lnTo>
                <a:lnTo>
                  <a:pt x="126798" y="276064"/>
                </a:lnTo>
                <a:lnTo>
                  <a:pt x="88432" y="268433"/>
                </a:lnTo>
                <a:lnTo>
                  <a:pt x="53906" y="249978"/>
                </a:lnTo>
                <a:lnTo>
                  <a:pt x="26246" y="222317"/>
                </a:lnTo>
                <a:lnTo>
                  <a:pt x="7791" y="187791"/>
                </a:lnTo>
                <a:lnTo>
                  <a:pt x="160" y="149426"/>
                </a:lnTo>
                <a:lnTo>
                  <a:pt x="0" y="142874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2125" y="4632356"/>
            <a:ext cx="53606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A6F83"/>
                </a:solidFill>
                <a:latin typeface="Courier New"/>
                <a:cs typeface="Courier New"/>
              </a:rPr>
              <a:t>04</a:t>
            </a:r>
            <a:r>
              <a:rPr sz="1200" spc="180" dirty="0">
                <a:solidFill>
                  <a:srgbClr val="0A6F83"/>
                </a:solid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Los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flujos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 una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solicitud aprobada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 una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rechazada.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200" y="5281612"/>
            <a:ext cx="7677150" cy="9525"/>
          </a:xfrm>
          <a:custGeom>
            <a:avLst/>
            <a:gdLst/>
            <a:ahLst/>
            <a:cxnLst/>
            <a:rect l="l" t="t" r="r" b="b"/>
            <a:pathLst>
              <a:path w="7677150" h="9525">
                <a:moveTo>
                  <a:pt x="7677149" y="9524"/>
                </a:moveTo>
                <a:lnTo>
                  <a:pt x="0" y="9524"/>
                </a:lnTo>
                <a:lnTo>
                  <a:pt x="0" y="0"/>
                </a:lnTo>
                <a:lnTo>
                  <a:pt x="7677149" y="0"/>
                </a:lnTo>
                <a:lnTo>
                  <a:pt x="767714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1962" y="568166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99" y="133349"/>
                </a:moveTo>
                <a:lnTo>
                  <a:pt x="260959" y="172059"/>
                </a:lnTo>
                <a:lnTo>
                  <a:pt x="244226" y="207434"/>
                </a:lnTo>
                <a:lnTo>
                  <a:pt x="217947" y="236431"/>
                </a:lnTo>
                <a:lnTo>
                  <a:pt x="184380" y="256548"/>
                </a:lnTo>
                <a:lnTo>
                  <a:pt x="146420" y="266058"/>
                </a:lnTo>
                <a:lnTo>
                  <a:pt x="133349" y="266699"/>
                </a:lnTo>
                <a:lnTo>
                  <a:pt x="126798" y="266539"/>
                </a:lnTo>
                <a:lnTo>
                  <a:pt x="88432" y="258907"/>
                </a:lnTo>
                <a:lnTo>
                  <a:pt x="53906" y="240452"/>
                </a:lnTo>
                <a:lnTo>
                  <a:pt x="26246" y="212792"/>
                </a:lnTo>
                <a:lnTo>
                  <a:pt x="7791" y="178266"/>
                </a:lnTo>
                <a:lnTo>
                  <a:pt x="160" y="139901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5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5"/>
                </a:lnTo>
                <a:lnTo>
                  <a:pt x="240453" y="53905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125" y="5642006"/>
            <a:ext cx="6224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A6F83"/>
                </a:solidFill>
                <a:latin typeface="Courier New"/>
                <a:cs typeface="Courier New"/>
              </a:rPr>
              <a:t>05</a:t>
            </a:r>
            <a:r>
              <a:rPr sz="1200" spc="190" dirty="0">
                <a:solidFill>
                  <a:srgbClr val="0A6F83"/>
                </a:solidFill>
                <a:latin typeface="Courier New"/>
                <a:cs typeface="Courier New"/>
              </a:rPr>
              <a:t> 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trade-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off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asumido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cómo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probó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casos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aceptación.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9149" y="1095374"/>
            <a:ext cx="3295649" cy="507682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18" name="object 1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3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3"/>
              </a:rPr>
              <a:t>2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El</a:t>
            </a:r>
            <a:r>
              <a:rPr spc="-195" dirty="0"/>
              <a:t> </a:t>
            </a:r>
            <a:r>
              <a:rPr spc="-95" dirty="0"/>
              <a:t>problema:</a:t>
            </a:r>
            <a:r>
              <a:rPr spc="-180" dirty="0"/>
              <a:t> </a:t>
            </a:r>
            <a:r>
              <a:rPr spc="-35" dirty="0"/>
              <a:t>préstamos</a:t>
            </a:r>
            <a:r>
              <a:rPr spc="-180" dirty="0"/>
              <a:t> </a:t>
            </a:r>
            <a:r>
              <a:rPr spc="-40" dirty="0"/>
              <a:t>de</a:t>
            </a:r>
            <a:r>
              <a:rPr spc="-180" dirty="0"/>
              <a:t> </a:t>
            </a:r>
            <a:r>
              <a:rPr spc="-25" dirty="0"/>
              <a:t>equipos</a:t>
            </a:r>
            <a:r>
              <a:rPr spc="-180" dirty="0"/>
              <a:t> </a:t>
            </a:r>
            <a:r>
              <a:rPr spc="-80" dirty="0"/>
              <a:t>en</a:t>
            </a:r>
            <a:r>
              <a:rPr spc="-180" dirty="0"/>
              <a:t> </a:t>
            </a:r>
            <a:r>
              <a:rPr spc="-10" dirty="0"/>
              <a:t>memoria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199" y="1095374"/>
            <a:ext cx="6581775" cy="5076825"/>
            <a:chOff x="457199" y="1095374"/>
            <a:chExt cx="6581775" cy="5076825"/>
          </a:xfrm>
        </p:grpSpPr>
        <p:sp>
          <p:nvSpPr>
            <p:cNvPr id="4" name="object 4"/>
            <p:cNvSpPr/>
            <p:nvPr/>
          </p:nvSpPr>
          <p:spPr>
            <a:xfrm>
              <a:off x="457199" y="1095374"/>
              <a:ext cx="6581775" cy="5076825"/>
            </a:xfrm>
            <a:custGeom>
              <a:avLst/>
              <a:gdLst/>
              <a:ahLst/>
              <a:cxnLst/>
              <a:rect l="l" t="t" r="r" b="b"/>
              <a:pathLst>
                <a:path w="6581775" h="5076825">
                  <a:moveTo>
                    <a:pt x="6581774" y="5076824"/>
                  </a:moveTo>
                  <a:lnTo>
                    <a:pt x="0" y="5076824"/>
                  </a:lnTo>
                  <a:lnTo>
                    <a:pt x="0" y="0"/>
                  </a:lnTo>
                  <a:lnTo>
                    <a:pt x="6581774" y="0"/>
                  </a:lnTo>
                  <a:lnTo>
                    <a:pt x="6581774" y="5076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099" y="5381624"/>
              <a:ext cx="1943100" cy="28575"/>
            </a:xfrm>
            <a:custGeom>
              <a:avLst/>
              <a:gdLst/>
              <a:ahLst/>
              <a:cxnLst/>
              <a:rect l="l" t="t" r="r" b="b"/>
              <a:pathLst>
                <a:path w="1943100" h="28575">
                  <a:moveTo>
                    <a:pt x="1930706" y="28574"/>
                  </a:moveTo>
                  <a:lnTo>
                    <a:pt x="12392" y="28574"/>
                  </a:lnTo>
                  <a:lnTo>
                    <a:pt x="10570" y="28211"/>
                  </a:lnTo>
                  <a:lnTo>
                    <a:pt x="0" y="16182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930706" y="0"/>
                  </a:lnTo>
                  <a:lnTo>
                    <a:pt x="1943099" y="12392"/>
                  </a:lnTo>
                  <a:lnTo>
                    <a:pt x="1943099" y="16182"/>
                  </a:lnTo>
                  <a:lnTo>
                    <a:pt x="1932529" y="28211"/>
                  </a:lnTo>
                  <a:lnTo>
                    <a:pt x="1930706" y="28574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1962" y="1100137"/>
            <a:ext cx="6572250" cy="5067300"/>
          </a:xfrm>
          <a:prstGeom prst="rect">
            <a:avLst/>
          </a:prstGeom>
          <a:ln w="9524">
            <a:solidFill>
              <a:srgbClr val="B9CCC6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endParaRPr sz="1150">
              <a:latin typeface="Times New Roman"/>
              <a:cs typeface="Times New Roman"/>
            </a:endParaRPr>
          </a:p>
          <a:p>
            <a:pPr marL="334645">
              <a:lnSpc>
                <a:spcPct val="100000"/>
              </a:lnSpc>
            </a:pPr>
            <a:r>
              <a:rPr sz="1150" spc="45" dirty="0">
                <a:solidFill>
                  <a:srgbClr val="0A6F83"/>
                </a:solidFill>
                <a:latin typeface="Courier New"/>
                <a:cs typeface="Courier New"/>
              </a:rPr>
              <a:t>CASO</a:t>
            </a:r>
            <a:r>
              <a:rPr sz="1150" spc="185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A6F83"/>
                </a:solidFill>
                <a:latin typeface="Courier New"/>
                <a:cs typeface="Courier New"/>
              </a:rPr>
              <a:t>DE</a:t>
            </a:r>
            <a:r>
              <a:rPr sz="1150" spc="19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A6F83"/>
                </a:solidFill>
                <a:latin typeface="Courier New"/>
                <a:cs typeface="Courier New"/>
              </a:rPr>
              <a:t>USO</a:t>
            </a:r>
            <a:r>
              <a:rPr sz="1150" spc="185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A6F83"/>
                </a:solidFill>
                <a:latin typeface="Courier New"/>
                <a:cs typeface="Courier New"/>
              </a:rPr>
              <a:t>·</a:t>
            </a:r>
            <a:r>
              <a:rPr sz="1150" spc="19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50" spc="45" dirty="0">
                <a:solidFill>
                  <a:srgbClr val="0A6F83"/>
                </a:solidFill>
                <a:latin typeface="Courier New"/>
                <a:cs typeface="Courier New"/>
              </a:rPr>
              <a:t>UNIVERSIDAD</a:t>
            </a:r>
            <a:endParaRPr sz="1150">
              <a:latin typeface="Courier New"/>
              <a:cs typeface="Courier New"/>
            </a:endParaRPr>
          </a:p>
          <a:p>
            <a:pPr marL="334645" marR="1746250">
              <a:lnSpc>
                <a:spcPts val="2630"/>
              </a:lnSpc>
              <a:spcBef>
                <a:spcPts val="815"/>
              </a:spcBef>
            </a:pPr>
            <a:r>
              <a:rPr sz="2200" b="1" spc="-25" dirty="0">
                <a:solidFill>
                  <a:srgbClr val="203A40"/>
                </a:solidFill>
                <a:latin typeface="Trebuchet MS"/>
                <a:cs typeface="Trebuchet MS"/>
              </a:rPr>
              <a:t>Gestión</a:t>
            </a:r>
            <a:r>
              <a:rPr sz="2200" b="1" spc="-1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2200" b="1" spc="-1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203A40"/>
                </a:solidFill>
                <a:latin typeface="Trebuchet MS"/>
                <a:cs typeface="Trebuchet MS"/>
              </a:rPr>
              <a:t>préstamos</a:t>
            </a:r>
            <a:r>
              <a:rPr sz="2200" b="1" spc="-1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2200" b="1" spc="-1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203A40"/>
                </a:solidFill>
                <a:latin typeface="Trebuchet MS"/>
                <a:cs typeface="Trebuchet MS"/>
              </a:rPr>
              <a:t>equipos</a:t>
            </a:r>
            <a:r>
              <a:rPr sz="2200" b="1" spc="-1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2200" b="1" spc="-50" dirty="0">
                <a:solidFill>
                  <a:srgbClr val="203A40"/>
                </a:solidFill>
                <a:latin typeface="Trebuchet MS"/>
                <a:cs typeface="Trebuchet MS"/>
              </a:rPr>
              <a:t>a </a:t>
            </a:r>
            <a:r>
              <a:rPr sz="2200" b="1" spc="-10" dirty="0">
                <a:solidFill>
                  <a:srgbClr val="203A40"/>
                </a:solidFill>
                <a:latin typeface="Trebuchet MS"/>
                <a:cs typeface="Trebuchet MS"/>
              </a:rPr>
              <a:t>estudiantes</a:t>
            </a:r>
            <a:endParaRPr sz="2200">
              <a:latin typeface="Trebuchet MS"/>
              <a:cs typeface="Trebuchet MS"/>
            </a:endParaRPr>
          </a:p>
          <a:p>
            <a:pPr marL="334645" marR="428625">
              <a:lnSpc>
                <a:spcPct val="118200"/>
              </a:lnSpc>
              <a:spcBef>
                <a:spcPts val="127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La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universidad</a:t>
            </a:r>
            <a:r>
              <a:rPr sz="16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necesita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recibir</a:t>
            </a:r>
            <a:r>
              <a:rPr sz="16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solicitudes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estudiantes,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consultar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disponibilidad,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aprobar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03A40"/>
                </a:solidFill>
                <a:latin typeface="Trebuchet MS"/>
                <a:cs typeface="Trebuchet MS"/>
              </a:rPr>
              <a:t>o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rechazar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cada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préstamo, actualizar</a:t>
            </a:r>
            <a:r>
              <a:rPr sz="1600" spc="-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mostrar</a:t>
            </a:r>
            <a:r>
              <a:rPr sz="1600" spc="-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un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reporte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final.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03A40"/>
                </a:solidFill>
                <a:latin typeface="Trebuchet MS"/>
                <a:cs typeface="Trebuchet MS"/>
              </a:rPr>
              <a:t>No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hay</a:t>
            </a:r>
            <a:r>
              <a:rPr sz="1600" spc="-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base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datos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ni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librerías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externas: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todo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vive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memoria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durante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la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ejecución</a:t>
            </a:r>
            <a:r>
              <a:rPr sz="1600" spc="-4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del</a:t>
            </a:r>
            <a:r>
              <a:rPr sz="1600" spc="-4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programa.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600">
              <a:latin typeface="Trebuchet MS"/>
              <a:cs typeface="Trebuchet MS"/>
            </a:endParaRPr>
          </a:p>
          <a:p>
            <a:pPr marL="334645">
              <a:lnSpc>
                <a:spcPct val="100000"/>
              </a:lnSpc>
            </a:pP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Inventario</a:t>
            </a:r>
            <a:r>
              <a:rPr sz="1400" spc="65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inicial:</a:t>
            </a:r>
            <a:r>
              <a:rPr sz="1400" spc="65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2</a:t>
            </a:r>
            <a:r>
              <a:rPr sz="1400" spc="7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portátiles</a:t>
            </a:r>
            <a:r>
              <a:rPr sz="1400" spc="65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·</a:t>
            </a:r>
            <a:r>
              <a:rPr sz="1400" spc="65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1</a:t>
            </a:r>
            <a:r>
              <a:rPr sz="1400" spc="7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Courier New"/>
                <a:cs typeface="Courier New"/>
              </a:rPr>
              <a:t>tableta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43774" y="2952749"/>
            <a:ext cx="28575" cy="1019175"/>
          </a:xfrm>
          <a:custGeom>
            <a:avLst/>
            <a:gdLst/>
            <a:ahLst/>
            <a:cxnLst/>
            <a:rect l="l" t="t" r="r" b="b"/>
            <a:pathLst>
              <a:path w="28575" h="1019175">
                <a:moveTo>
                  <a:pt x="16182" y="1019174"/>
                </a:moveTo>
                <a:lnTo>
                  <a:pt x="12392" y="1019174"/>
                </a:lnTo>
                <a:lnTo>
                  <a:pt x="10569" y="1018812"/>
                </a:lnTo>
                <a:lnTo>
                  <a:pt x="0" y="1006781"/>
                </a:lnTo>
                <a:lnTo>
                  <a:pt x="0" y="1004887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4" y="12392"/>
                </a:lnTo>
                <a:lnTo>
                  <a:pt x="28574" y="1006781"/>
                </a:lnTo>
                <a:lnTo>
                  <a:pt x="18004" y="1018812"/>
                </a:lnTo>
                <a:lnTo>
                  <a:pt x="16182" y="1019174"/>
                </a:lnTo>
                <a:close/>
              </a:path>
            </a:pathLst>
          </a:custGeom>
          <a:solidFill>
            <a:srgbClr val="0A6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7660" y="2971158"/>
            <a:ext cx="3507104" cy="901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19100"/>
              </a:lnSpc>
              <a:spcBef>
                <a:spcPts val="135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Cada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solicitud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debe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terminar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una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decisión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registrada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un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inventario coherente.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32860" y="4105338"/>
            <a:ext cx="19831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Alcance</a:t>
            </a:r>
            <a:r>
              <a:rPr sz="1100" spc="2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de</a:t>
            </a:r>
            <a:r>
              <a:rPr sz="1100" spc="2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la</a:t>
            </a:r>
            <a:r>
              <a:rPr sz="1100" spc="25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4A646A"/>
                </a:solidFill>
                <a:latin typeface="Courier New"/>
                <a:cs typeface="Courier New"/>
              </a:rPr>
              <a:t>actividad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10" name="object 1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3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Reglas</a:t>
            </a:r>
            <a:r>
              <a:rPr spc="-190" dirty="0"/>
              <a:t> </a:t>
            </a:r>
            <a:r>
              <a:rPr spc="-55" dirty="0"/>
              <a:t>funcionales</a:t>
            </a:r>
            <a:r>
              <a:rPr spc="-190" dirty="0"/>
              <a:t> </a:t>
            </a:r>
            <a:r>
              <a:rPr spc="-60" dirty="0"/>
              <a:t>que</a:t>
            </a:r>
            <a:r>
              <a:rPr spc="-190" dirty="0"/>
              <a:t> </a:t>
            </a:r>
            <a:r>
              <a:rPr spc="-50" dirty="0"/>
              <a:t>debe</a:t>
            </a:r>
            <a:r>
              <a:rPr spc="-190" dirty="0"/>
              <a:t> </a:t>
            </a:r>
            <a:r>
              <a:rPr spc="-80" dirty="0"/>
              <a:t>cumplir</a:t>
            </a:r>
            <a:r>
              <a:rPr spc="-190" dirty="0"/>
              <a:t> </a:t>
            </a:r>
            <a:r>
              <a:rPr spc="-65" dirty="0"/>
              <a:t>el</a:t>
            </a:r>
            <a:r>
              <a:rPr spc="-190" dirty="0"/>
              <a:t> </a:t>
            </a:r>
            <a:r>
              <a:rPr spc="-10" dirty="0"/>
              <a:t>sistema</a:t>
            </a:r>
          </a:p>
        </p:txBody>
      </p:sp>
      <p:sp>
        <p:nvSpPr>
          <p:cNvPr id="3" name="object 3"/>
          <p:cNvSpPr/>
          <p:nvPr/>
        </p:nvSpPr>
        <p:spPr>
          <a:xfrm>
            <a:off x="461962" y="135731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5"/>
                </a:lnTo>
                <a:lnTo>
                  <a:pt x="247386" y="177795"/>
                </a:lnTo>
                <a:lnTo>
                  <a:pt x="244155" y="185596"/>
                </a:lnTo>
                <a:lnTo>
                  <a:pt x="219512" y="219512"/>
                </a:lnTo>
                <a:lnTo>
                  <a:pt x="200026" y="235503"/>
                </a:lnTo>
                <a:lnTo>
                  <a:pt x="193006" y="240194"/>
                </a:lnTo>
                <a:lnTo>
                  <a:pt x="153673" y="254704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4"/>
                </a:lnTo>
                <a:lnTo>
                  <a:pt x="95220" y="253056"/>
                </a:lnTo>
                <a:lnTo>
                  <a:pt x="57148" y="235503"/>
                </a:lnTo>
                <a:lnTo>
                  <a:pt x="50127" y="230813"/>
                </a:lnTo>
                <a:lnTo>
                  <a:pt x="21670" y="200027"/>
                </a:lnTo>
                <a:lnTo>
                  <a:pt x="9788" y="177795"/>
                </a:lnTo>
                <a:lnTo>
                  <a:pt x="6557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21670" y="57147"/>
                </a:lnTo>
                <a:lnTo>
                  <a:pt x="37662" y="37662"/>
                </a:lnTo>
                <a:lnTo>
                  <a:pt x="43632" y="31691"/>
                </a:lnTo>
                <a:lnTo>
                  <a:pt x="79379" y="9787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3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07047" y="26361"/>
                </a:lnTo>
                <a:lnTo>
                  <a:pt x="213542" y="31691"/>
                </a:lnTo>
                <a:lnTo>
                  <a:pt x="219512" y="37662"/>
                </a:lnTo>
                <a:lnTo>
                  <a:pt x="225482" y="43632"/>
                </a:lnTo>
                <a:lnTo>
                  <a:pt x="247386" y="79379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1962" y="239553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5"/>
                </a:lnTo>
                <a:lnTo>
                  <a:pt x="247386" y="177795"/>
                </a:lnTo>
                <a:lnTo>
                  <a:pt x="244155" y="185595"/>
                </a:lnTo>
                <a:lnTo>
                  <a:pt x="219512" y="219512"/>
                </a:lnTo>
                <a:lnTo>
                  <a:pt x="200026" y="235503"/>
                </a:lnTo>
                <a:lnTo>
                  <a:pt x="193006" y="240194"/>
                </a:lnTo>
                <a:lnTo>
                  <a:pt x="153673" y="254704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4"/>
                </a:lnTo>
                <a:lnTo>
                  <a:pt x="95220" y="253056"/>
                </a:lnTo>
                <a:lnTo>
                  <a:pt x="57148" y="235503"/>
                </a:lnTo>
                <a:lnTo>
                  <a:pt x="26361" y="207046"/>
                </a:lnTo>
                <a:lnTo>
                  <a:pt x="21670" y="200026"/>
                </a:lnTo>
                <a:lnTo>
                  <a:pt x="16980" y="193006"/>
                </a:lnTo>
                <a:lnTo>
                  <a:pt x="13019" y="185595"/>
                </a:lnTo>
                <a:lnTo>
                  <a:pt x="9788" y="177795"/>
                </a:lnTo>
                <a:lnTo>
                  <a:pt x="6557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9788" y="79378"/>
                </a:lnTo>
                <a:lnTo>
                  <a:pt x="21670" y="57147"/>
                </a:lnTo>
                <a:lnTo>
                  <a:pt x="26361" y="50127"/>
                </a:lnTo>
                <a:lnTo>
                  <a:pt x="31692" y="43632"/>
                </a:lnTo>
                <a:lnTo>
                  <a:pt x="37662" y="37662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8" y="21670"/>
                </a:lnTo>
                <a:lnTo>
                  <a:pt x="64168" y="16979"/>
                </a:lnTo>
                <a:lnTo>
                  <a:pt x="103501" y="2470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77795" y="9787"/>
                </a:lnTo>
                <a:lnTo>
                  <a:pt x="200026" y="21670"/>
                </a:lnTo>
                <a:lnTo>
                  <a:pt x="207047" y="26361"/>
                </a:lnTo>
                <a:lnTo>
                  <a:pt x="213542" y="31691"/>
                </a:lnTo>
                <a:lnTo>
                  <a:pt x="219512" y="37662"/>
                </a:lnTo>
                <a:lnTo>
                  <a:pt x="225482" y="43632"/>
                </a:lnTo>
                <a:lnTo>
                  <a:pt x="247386" y="79378"/>
                </a:lnTo>
                <a:lnTo>
                  <a:pt x="250617" y="87179"/>
                </a:lnTo>
                <a:lnTo>
                  <a:pt x="253056" y="95220"/>
                </a:lnTo>
                <a:lnTo>
                  <a:pt x="254704" y="103500"/>
                </a:lnTo>
                <a:lnTo>
                  <a:pt x="256351" y="111782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1962" y="345281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4"/>
                </a:lnTo>
                <a:lnTo>
                  <a:pt x="247386" y="177795"/>
                </a:lnTo>
                <a:lnTo>
                  <a:pt x="244155" y="185595"/>
                </a:lnTo>
                <a:lnTo>
                  <a:pt x="219512" y="219512"/>
                </a:lnTo>
                <a:lnTo>
                  <a:pt x="185596" y="244155"/>
                </a:lnTo>
                <a:lnTo>
                  <a:pt x="153673" y="254703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3"/>
                </a:lnTo>
                <a:lnTo>
                  <a:pt x="95220" y="253056"/>
                </a:lnTo>
                <a:lnTo>
                  <a:pt x="57148" y="235503"/>
                </a:lnTo>
                <a:lnTo>
                  <a:pt x="26361" y="207046"/>
                </a:lnTo>
                <a:lnTo>
                  <a:pt x="9788" y="177795"/>
                </a:lnTo>
                <a:lnTo>
                  <a:pt x="6557" y="169994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823" y="111781"/>
                </a:lnTo>
                <a:lnTo>
                  <a:pt x="2470" y="103500"/>
                </a:lnTo>
                <a:lnTo>
                  <a:pt x="4117" y="95219"/>
                </a:lnTo>
                <a:lnTo>
                  <a:pt x="21670" y="57147"/>
                </a:lnTo>
                <a:lnTo>
                  <a:pt x="26361" y="50127"/>
                </a:lnTo>
                <a:lnTo>
                  <a:pt x="31692" y="43632"/>
                </a:lnTo>
                <a:lnTo>
                  <a:pt x="37662" y="37661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8" y="21670"/>
                </a:lnTo>
                <a:lnTo>
                  <a:pt x="64168" y="16979"/>
                </a:lnTo>
                <a:lnTo>
                  <a:pt x="103501" y="2470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77795" y="9787"/>
                </a:lnTo>
                <a:lnTo>
                  <a:pt x="200026" y="21670"/>
                </a:lnTo>
                <a:lnTo>
                  <a:pt x="207047" y="26361"/>
                </a:lnTo>
                <a:lnTo>
                  <a:pt x="235503" y="57147"/>
                </a:lnTo>
                <a:lnTo>
                  <a:pt x="253056" y="95219"/>
                </a:lnTo>
                <a:lnTo>
                  <a:pt x="254704" y="103500"/>
                </a:lnTo>
                <a:lnTo>
                  <a:pt x="256351" y="111781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24099" y="3409949"/>
            <a:ext cx="1866900" cy="276225"/>
          </a:xfrm>
          <a:custGeom>
            <a:avLst/>
            <a:gdLst/>
            <a:ahLst/>
            <a:cxnLst/>
            <a:rect l="l" t="t" r="r" b="b"/>
            <a:pathLst>
              <a:path w="1866900" h="276225">
                <a:moveTo>
                  <a:pt x="1844868" y="276224"/>
                </a:moveTo>
                <a:lnTo>
                  <a:pt x="22031" y="276224"/>
                </a:lnTo>
                <a:lnTo>
                  <a:pt x="18791" y="275580"/>
                </a:lnTo>
                <a:lnTo>
                  <a:pt x="0" y="254193"/>
                </a:lnTo>
                <a:lnTo>
                  <a:pt x="0" y="250825"/>
                </a:lnTo>
                <a:lnTo>
                  <a:pt x="0" y="22031"/>
                </a:lnTo>
                <a:lnTo>
                  <a:pt x="22031" y="0"/>
                </a:lnTo>
                <a:lnTo>
                  <a:pt x="1844868" y="0"/>
                </a:lnTo>
                <a:lnTo>
                  <a:pt x="1866899" y="22031"/>
                </a:lnTo>
                <a:lnTo>
                  <a:pt x="1866899" y="254193"/>
                </a:lnTo>
                <a:lnTo>
                  <a:pt x="1848108" y="275580"/>
                </a:lnTo>
                <a:lnTo>
                  <a:pt x="1844868" y="276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962" y="449103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4"/>
                </a:lnTo>
                <a:lnTo>
                  <a:pt x="247386" y="177795"/>
                </a:lnTo>
                <a:lnTo>
                  <a:pt x="244155" y="185595"/>
                </a:lnTo>
                <a:lnTo>
                  <a:pt x="219512" y="219512"/>
                </a:lnTo>
                <a:lnTo>
                  <a:pt x="185596" y="244155"/>
                </a:lnTo>
                <a:lnTo>
                  <a:pt x="153673" y="254703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3"/>
                </a:lnTo>
                <a:lnTo>
                  <a:pt x="95220" y="253056"/>
                </a:lnTo>
                <a:lnTo>
                  <a:pt x="57148" y="235503"/>
                </a:lnTo>
                <a:lnTo>
                  <a:pt x="26361" y="207046"/>
                </a:lnTo>
                <a:lnTo>
                  <a:pt x="9788" y="177795"/>
                </a:lnTo>
                <a:lnTo>
                  <a:pt x="6557" y="169994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9788" y="79378"/>
                </a:lnTo>
                <a:lnTo>
                  <a:pt x="21670" y="57147"/>
                </a:lnTo>
                <a:lnTo>
                  <a:pt x="26361" y="50127"/>
                </a:lnTo>
                <a:lnTo>
                  <a:pt x="31692" y="43632"/>
                </a:lnTo>
                <a:lnTo>
                  <a:pt x="37662" y="37662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8" y="21670"/>
                </a:lnTo>
                <a:lnTo>
                  <a:pt x="64168" y="16979"/>
                </a:lnTo>
                <a:lnTo>
                  <a:pt x="103501" y="2470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3" y="2470"/>
                </a:lnTo>
                <a:lnTo>
                  <a:pt x="161954" y="4118"/>
                </a:lnTo>
                <a:lnTo>
                  <a:pt x="200026" y="21670"/>
                </a:lnTo>
                <a:lnTo>
                  <a:pt x="207047" y="26361"/>
                </a:lnTo>
                <a:lnTo>
                  <a:pt x="213542" y="31691"/>
                </a:lnTo>
                <a:lnTo>
                  <a:pt x="219512" y="37662"/>
                </a:lnTo>
                <a:lnTo>
                  <a:pt x="225482" y="43632"/>
                </a:lnTo>
                <a:lnTo>
                  <a:pt x="247386" y="79378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1962" y="525303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5"/>
                </a:lnTo>
                <a:lnTo>
                  <a:pt x="247386" y="177795"/>
                </a:lnTo>
                <a:lnTo>
                  <a:pt x="244155" y="185595"/>
                </a:lnTo>
                <a:lnTo>
                  <a:pt x="219512" y="219512"/>
                </a:lnTo>
                <a:lnTo>
                  <a:pt x="200026" y="235503"/>
                </a:lnTo>
                <a:lnTo>
                  <a:pt x="193006" y="240194"/>
                </a:lnTo>
                <a:lnTo>
                  <a:pt x="153673" y="254704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4"/>
                </a:lnTo>
                <a:lnTo>
                  <a:pt x="95220" y="253057"/>
                </a:lnTo>
                <a:lnTo>
                  <a:pt x="87179" y="250617"/>
                </a:lnTo>
                <a:lnTo>
                  <a:pt x="79379" y="247386"/>
                </a:lnTo>
                <a:lnTo>
                  <a:pt x="71578" y="244155"/>
                </a:lnTo>
                <a:lnTo>
                  <a:pt x="64168" y="240194"/>
                </a:lnTo>
                <a:lnTo>
                  <a:pt x="57148" y="235503"/>
                </a:lnTo>
                <a:lnTo>
                  <a:pt x="50127" y="230812"/>
                </a:lnTo>
                <a:lnTo>
                  <a:pt x="21670" y="200026"/>
                </a:lnTo>
                <a:lnTo>
                  <a:pt x="9788" y="177795"/>
                </a:lnTo>
                <a:lnTo>
                  <a:pt x="6557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9788" y="79378"/>
                </a:lnTo>
                <a:lnTo>
                  <a:pt x="21670" y="57147"/>
                </a:lnTo>
                <a:lnTo>
                  <a:pt x="26361" y="50127"/>
                </a:lnTo>
                <a:lnTo>
                  <a:pt x="57148" y="21670"/>
                </a:lnTo>
                <a:lnTo>
                  <a:pt x="64168" y="16979"/>
                </a:lnTo>
                <a:lnTo>
                  <a:pt x="71578" y="13018"/>
                </a:lnTo>
                <a:lnTo>
                  <a:pt x="79379" y="9787"/>
                </a:lnTo>
                <a:lnTo>
                  <a:pt x="87179" y="6556"/>
                </a:lnTo>
                <a:lnTo>
                  <a:pt x="95220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3" y="2470"/>
                </a:lnTo>
                <a:lnTo>
                  <a:pt x="161954" y="4117"/>
                </a:lnTo>
                <a:lnTo>
                  <a:pt x="169995" y="6556"/>
                </a:lnTo>
                <a:lnTo>
                  <a:pt x="177795" y="9787"/>
                </a:lnTo>
                <a:lnTo>
                  <a:pt x="185596" y="13018"/>
                </a:lnTo>
                <a:lnTo>
                  <a:pt x="193006" y="16979"/>
                </a:lnTo>
                <a:lnTo>
                  <a:pt x="200026" y="21670"/>
                </a:lnTo>
                <a:lnTo>
                  <a:pt x="207047" y="26361"/>
                </a:lnTo>
                <a:lnTo>
                  <a:pt x="235503" y="57147"/>
                </a:lnTo>
                <a:lnTo>
                  <a:pt x="240194" y="64167"/>
                </a:lnTo>
                <a:lnTo>
                  <a:pt x="244155" y="71578"/>
                </a:lnTo>
                <a:lnTo>
                  <a:pt x="247386" y="79378"/>
                </a:lnTo>
                <a:lnTo>
                  <a:pt x="250617" y="87179"/>
                </a:lnTo>
                <a:lnTo>
                  <a:pt x="253056" y="95220"/>
                </a:lnTo>
                <a:lnTo>
                  <a:pt x="254704" y="103500"/>
                </a:lnTo>
                <a:lnTo>
                  <a:pt x="256351" y="111782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4500" y="1266183"/>
            <a:ext cx="7142480" cy="488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332105">
              <a:lnSpc>
                <a:spcPct val="121100"/>
              </a:lnSpc>
              <a:spcBef>
                <a:spcPts val="100"/>
              </a:spcBef>
              <a:buClr>
                <a:srgbClr val="0A6F83"/>
              </a:buClr>
              <a:buSzPct val="75000"/>
              <a:buFont typeface="Courier New"/>
              <a:buAutoNum type="arabicPlain"/>
              <a:tabLst>
                <a:tab pos="431165" algn="l"/>
              </a:tabLst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Recibe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estudiante,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equipo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cantidad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solicitada,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verifica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disponibilidad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antes</a:t>
            </a:r>
            <a:r>
              <a:rPr sz="16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decidir.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 marL="431165" marR="238760" indent="-332105">
              <a:lnSpc>
                <a:spcPct val="121100"/>
              </a:lnSpc>
              <a:buClr>
                <a:srgbClr val="0A6F83"/>
              </a:buClr>
              <a:buSzPct val="75000"/>
              <a:buFont typeface="Courier New"/>
              <a:buAutoNum type="arabicPlain"/>
              <a:tabLst>
                <a:tab pos="431165" algn="l"/>
              </a:tabLst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Una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solicitud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aprobada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descuenta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del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inventario;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una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rechazada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03A40"/>
                </a:solidFill>
                <a:latin typeface="Trebuchet MS"/>
                <a:cs typeface="Trebuchet MS"/>
              </a:rPr>
              <a:t>no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lo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modifica.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 marL="431165" marR="264795" indent="-332105">
              <a:lnSpc>
                <a:spcPct val="117200"/>
              </a:lnSpc>
              <a:buClr>
                <a:srgbClr val="0A6F83"/>
              </a:buClr>
              <a:buSzPct val="75000"/>
              <a:buFont typeface="Courier New"/>
              <a:buAutoNum type="arabicPlain"/>
              <a:tabLst>
                <a:tab pos="431165" algn="l"/>
              </a:tabLst>
            </a:pP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Solo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publica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203A40"/>
                </a:solidFill>
                <a:latin typeface="Lucida Sans Unicode"/>
                <a:cs typeface="Lucida Sans Unicode"/>
              </a:rPr>
              <a:t>PrestamoAprobado</a:t>
            </a:r>
            <a:r>
              <a:rPr sz="1600" spc="-20" dirty="0">
                <a:solidFill>
                  <a:srgbClr val="203A40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después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validar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actualizar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el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inventario.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 marL="431165" indent="-331470">
              <a:lnSpc>
                <a:spcPct val="100000"/>
              </a:lnSpc>
              <a:buClr>
                <a:srgbClr val="0A6F83"/>
              </a:buClr>
              <a:buSzPct val="75000"/>
              <a:buFont typeface="Courier New"/>
              <a:buAutoNum type="arabicPlain"/>
              <a:tabLst>
                <a:tab pos="431165" algn="l"/>
              </a:tabLst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Los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consumidores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reaccionan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evento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sin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cambiar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la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decisión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original.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0A6F83"/>
              </a:buClr>
              <a:buFont typeface="Courier New"/>
              <a:buAutoNum type="arabicPlain"/>
            </a:pPr>
            <a:endParaRPr sz="1600">
              <a:latin typeface="Trebuchet MS"/>
              <a:cs typeface="Trebuchet MS"/>
            </a:endParaRPr>
          </a:p>
          <a:p>
            <a:pPr marL="431165" indent="-331470">
              <a:lnSpc>
                <a:spcPct val="100000"/>
              </a:lnSpc>
              <a:spcBef>
                <a:spcPts val="5"/>
              </a:spcBef>
              <a:buClr>
                <a:srgbClr val="0A6F83"/>
              </a:buClr>
              <a:buSzPct val="75000"/>
              <a:buFont typeface="Courier New"/>
              <a:buAutoNum type="arabicPlain"/>
              <a:tabLst>
                <a:tab pos="431165" algn="l"/>
              </a:tabLst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finalizar</a:t>
            </a:r>
            <a:r>
              <a:rPr sz="16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muestran</a:t>
            </a:r>
            <a:r>
              <a:rPr sz="16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6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reporte</a:t>
            </a:r>
            <a:r>
              <a:rPr sz="16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solicitudes.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A6F83"/>
                </a:solidFill>
                <a:latin typeface="Courier New"/>
                <a:cs typeface="Courier New"/>
              </a:rPr>
              <a:t>Validar,</a:t>
            </a:r>
            <a:r>
              <a:rPr sz="1400" spc="7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A6F83"/>
                </a:solidFill>
                <a:latin typeface="Courier New"/>
                <a:cs typeface="Courier New"/>
              </a:rPr>
              <a:t>actualizar,</a:t>
            </a:r>
            <a:r>
              <a:rPr sz="1400" spc="8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A6F83"/>
                </a:solidFill>
                <a:latin typeface="Courier New"/>
                <a:cs typeface="Courier New"/>
              </a:rPr>
              <a:t>publicar:</a:t>
            </a:r>
            <a:r>
              <a:rPr sz="1400" spc="8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A6F83"/>
                </a:solidFill>
                <a:latin typeface="Courier New"/>
                <a:cs typeface="Courier New"/>
              </a:rPr>
              <a:t>en</a:t>
            </a:r>
            <a:r>
              <a:rPr sz="1400" spc="8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A6F83"/>
                </a:solidFill>
                <a:latin typeface="Courier New"/>
                <a:cs typeface="Courier New"/>
              </a:rPr>
              <a:t>ese</a:t>
            </a:r>
            <a:r>
              <a:rPr sz="1400" spc="85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A6F83"/>
                </a:solidFill>
                <a:latin typeface="Courier New"/>
                <a:cs typeface="Courier New"/>
              </a:rPr>
              <a:t>orden.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2128837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00" y="3167062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200" y="4224337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00" y="4976812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9" y="1095374"/>
            <a:ext cx="3657599" cy="464819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15" name="object 1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3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3"/>
              </a:rPr>
              <a:t>4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393731"/>
            <a:ext cx="24618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Por</a:t>
            </a:r>
            <a:r>
              <a:rPr spc="-200" dirty="0"/>
              <a:t> </a:t>
            </a:r>
            <a:r>
              <a:rPr spc="-60" dirty="0"/>
              <a:t>qué</a:t>
            </a:r>
            <a:r>
              <a:rPr spc="-200" dirty="0"/>
              <a:t> </a:t>
            </a:r>
            <a:r>
              <a:rPr spc="-3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47108"/>
            <a:ext cx="1044765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Python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permite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representar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las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entidades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clases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usar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diccionarios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listas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memoria,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sin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instalar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librerías externas.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199" y="2466974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504824" y="504824"/>
                </a:moveTo>
                <a:lnTo>
                  <a:pt x="0" y="504824"/>
                </a:lnTo>
                <a:lnTo>
                  <a:pt x="0" y="0"/>
                </a:lnTo>
                <a:lnTo>
                  <a:pt x="504824" y="0"/>
                </a:lnTo>
                <a:lnTo>
                  <a:pt x="504824" y="504824"/>
                </a:lnTo>
                <a:close/>
              </a:path>
            </a:pathLst>
          </a:custGeom>
          <a:solidFill>
            <a:srgbClr val="0A6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5199" y="2466974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504824" y="504824"/>
                </a:moveTo>
                <a:lnTo>
                  <a:pt x="0" y="504824"/>
                </a:lnTo>
                <a:lnTo>
                  <a:pt x="0" y="0"/>
                </a:lnTo>
                <a:lnTo>
                  <a:pt x="504824" y="0"/>
                </a:lnTo>
                <a:lnTo>
                  <a:pt x="504824" y="504824"/>
                </a:lnTo>
                <a:close/>
              </a:path>
            </a:pathLst>
          </a:custGeom>
          <a:solidFill>
            <a:srgbClr val="0A6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500" y="3089306"/>
            <a:ext cx="2470150" cy="764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Sintaxis</a:t>
            </a:r>
            <a:r>
              <a:rPr sz="1900" b="1" spc="-95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12252A"/>
                </a:solidFill>
                <a:latin typeface="Trebuchet MS"/>
                <a:cs typeface="Trebuchet MS"/>
              </a:rPr>
              <a:t>clara</a:t>
            </a:r>
            <a:r>
              <a:rPr sz="1900" b="1" spc="-90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12252A"/>
                </a:solidFill>
                <a:latin typeface="Trebuchet MS"/>
                <a:cs typeface="Trebuchet MS"/>
              </a:rPr>
              <a:t>y</a:t>
            </a:r>
            <a:r>
              <a:rPr sz="1900" b="1" spc="-90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12252A"/>
                </a:solidFill>
                <a:latin typeface="Trebuchet MS"/>
                <a:cs typeface="Trebuchet MS"/>
              </a:rPr>
              <a:t>corta</a:t>
            </a:r>
            <a:endParaRPr sz="1900" dirty="0">
              <a:latin typeface="Trebuchet MS"/>
              <a:cs typeface="Trebuchet MS"/>
            </a:endParaRPr>
          </a:p>
          <a:p>
            <a:pPr marL="12700" marR="5080">
              <a:lnSpc>
                <a:spcPct val="119100"/>
              </a:lnSpc>
              <a:spcBef>
                <a:spcPts val="1250"/>
              </a:spcBef>
            </a:pPr>
            <a:r>
              <a:rPr lang="es-ES" sz="1600" dirty="0" smtClean="0">
                <a:solidFill>
                  <a:srgbClr val="203A40"/>
                </a:solidFill>
                <a:latin typeface="Trebuchet MS"/>
                <a:cs typeface="Trebuchet MS"/>
              </a:rPr>
              <a:t>Fácil de entender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1837" y="2466974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9524" y="2571749"/>
                </a:moveTo>
                <a:lnTo>
                  <a:pt x="0" y="2571749"/>
                </a:lnTo>
                <a:lnTo>
                  <a:pt x="0" y="0"/>
                </a:lnTo>
                <a:lnTo>
                  <a:pt x="9524" y="0"/>
                </a:lnTo>
                <a:lnTo>
                  <a:pt x="9524" y="2571749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24599" y="2466974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504824" y="504824"/>
                </a:moveTo>
                <a:lnTo>
                  <a:pt x="0" y="504824"/>
                </a:lnTo>
                <a:lnTo>
                  <a:pt x="0" y="0"/>
                </a:lnTo>
                <a:lnTo>
                  <a:pt x="504824" y="0"/>
                </a:lnTo>
                <a:lnTo>
                  <a:pt x="504824" y="504824"/>
                </a:lnTo>
                <a:close/>
              </a:path>
            </a:pathLst>
          </a:custGeom>
          <a:solidFill>
            <a:srgbClr val="0A6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43999" y="2466974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504824" y="504824"/>
                </a:moveTo>
                <a:lnTo>
                  <a:pt x="0" y="504824"/>
                </a:lnTo>
                <a:lnTo>
                  <a:pt x="0" y="0"/>
                </a:lnTo>
                <a:lnTo>
                  <a:pt x="504824" y="0"/>
                </a:lnTo>
                <a:lnTo>
                  <a:pt x="504824" y="504824"/>
                </a:lnTo>
                <a:close/>
              </a:path>
            </a:pathLst>
          </a:custGeom>
          <a:solidFill>
            <a:srgbClr val="0A6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92500" y="3089306"/>
            <a:ext cx="1917064" cy="192658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417195">
              <a:lnSpc>
                <a:spcPts val="2250"/>
              </a:lnSpc>
              <a:spcBef>
                <a:spcPts val="200"/>
              </a:spcBef>
            </a:pPr>
            <a:r>
              <a:rPr sz="1900" b="1" spc="-40" dirty="0">
                <a:solidFill>
                  <a:srgbClr val="12252A"/>
                </a:solidFill>
                <a:latin typeface="Trebuchet MS"/>
                <a:cs typeface="Trebuchet MS"/>
              </a:rPr>
              <a:t>Orientación</a:t>
            </a:r>
            <a:r>
              <a:rPr sz="1900" b="1" spc="-35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12252A"/>
                </a:solidFill>
                <a:latin typeface="Trebuchet MS"/>
                <a:cs typeface="Trebuchet MS"/>
              </a:rPr>
              <a:t>a </a:t>
            </a: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objetos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8500"/>
              </a:lnSpc>
              <a:spcBef>
                <a:spcPts val="1270"/>
              </a:spcBef>
            </a:pP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Facilita</a:t>
            </a:r>
            <a:r>
              <a:rPr sz="1600" spc="-8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implementar clases,</a:t>
            </a:r>
            <a:r>
              <a:rPr sz="1600" spc="-8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eventos,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consumidores</a:t>
            </a:r>
            <a:r>
              <a:rPr sz="1600" spc="29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y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contratos.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1237" y="2466974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9524" y="2571749"/>
                </a:moveTo>
                <a:lnTo>
                  <a:pt x="0" y="2571749"/>
                </a:lnTo>
                <a:lnTo>
                  <a:pt x="0" y="0"/>
                </a:lnTo>
                <a:lnTo>
                  <a:pt x="9524" y="0"/>
                </a:lnTo>
                <a:lnTo>
                  <a:pt x="9524" y="2571749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11899" y="3089306"/>
            <a:ext cx="2209165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20" dirty="0">
                <a:solidFill>
                  <a:srgbClr val="12252A"/>
                </a:solidFill>
                <a:latin typeface="Trebuchet MS"/>
                <a:cs typeface="Trebuchet MS"/>
              </a:rPr>
              <a:t>Biblioteca</a:t>
            </a:r>
            <a:r>
              <a:rPr sz="1900" b="1" spc="-85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estándar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9100"/>
              </a:lnSpc>
              <a:spcBef>
                <a:spcPts val="125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Usa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únicamente</a:t>
            </a:r>
            <a:r>
              <a:rPr sz="16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lo</a:t>
            </a:r>
            <a:r>
              <a:rPr sz="16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que trae</a:t>
            </a:r>
            <a:r>
              <a:rPr sz="1600" spc="-8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7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lenguaje:</a:t>
            </a:r>
            <a:r>
              <a:rPr sz="1600" spc="-8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sin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dependencias</a:t>
            </a:r>
            <a:r>
              <a:rPr sz="1600" spc="2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externas.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10637" y="2466974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9524" y="2571749"/>
                </a:moveTo>
                <a:lnTo>
                  <a:pt x="0" y="2571749"/>
                </a:lnTo>
                <a:lnTo>
                  <a:pt x="0" y="0"/>
                </a:lnTo>
                <a:lnTo>
                  <a:pt x="9524" y="0"/>
                </a:lnTo>
                <a:lnTo>
                  <a:pt x="9524" y="2571749"/>
                </a:lnTo>
                <a:close/>
              </a:path>
            </a:pathLst>
          </a:custGeom>
          <a:solidFill>
            <a:srgbClr val="B9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31300" y="3089306"/>
            <a:ext cx="2200275" cy="192658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671195">
              <a:lnSpc>
                <a:spcPts val="2250"/>
              </a:lnSpc>
              <a:spcBef>
                <a:spcPts val="200"/>
              </a:spcBef>
            </a:pPr>
            <a:r>
              <a:rPr sz="1900" b="1" dirty="0">
                <a:solidFill>
                  <a:srgbClr val="12252A"/>
                </a:solidFill>
                <a:latin typeface="Trebuchet MS"/>
                <a:cs typeface="Trebuchet MS"/>
              </a:rPr>
              <a:t>Menos</a:t>
            </a: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 código repetitivo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8500"/>
              </a:lnSpc>
              <a:spcBef>
                <a:spcPts val="1270"/>
              </a:spcBef>
            </a:pP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Frente</a:t>
            </a:r>
            <a:r>
              <a:rPr sz="1600" spc="-6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</a:t>
            </a:r>
            <a:r>
              <a:rPr sz="1600" spc="-6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una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implementación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equivalente</a:t>
            </a:r>
            <a:r>
              <a:rPr sz="1600" spc="-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C++,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el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prototipo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es</a:t>
            </a:r>
            <a:r>
              <a:rPr sz="1600" spc="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más</a:t>
            </a:r>
            <a:r>
              <a:rPr sz="1600" spc="4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203A40"/>
                </a:solidFill>
                <a:latin typeface="Trebuchet MS"/>
                <a:cs typeface="Trebuchet MS"/>
              </a:rPr>
              <a:t>breve.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5822981"/>
            <a:ext cx="68262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40" dirty="0">
                <a:solidFill>
                  <a:srgbClr val="203A40"/>
                </a:solidFill>
                <a:latin typeface="Trebuchet MS"/>
                <a:cs typeface="Trebuchet MS"/>
              </a:rPr>
              <a:t>Decisión:</a:t>
            </a:r>
            <a:r>
              <a:rPr sz="1900" b="1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03A40"/>
                </a:solidFill>
                <a:latin typeface="Trebuchet MS"/>
                <a:cs typeface="Trebuchet MS"/>
              </a:rPr>
              <a:t>Python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03A40"/>
                </a:solidFill>
                <a:latin typeface="Trebuchet MS"/>
                <a:cs typeface="Trebuchet MS"/>
              </a:rPr>
              <a:t>con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spc="60" dirty="0">
                <a:solidFill>
                  <a:srgbClr val="203A40"/>
                </a:solidFill>
                <a:latin typeface="Trebuchet MS"/>
                <a:cs typeface="Trebuchet MS"/>
              </a:rPr>
              <a:t>un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spc="70" dirty="0">
                <a:solidFill>
                  <a:srgbClr val="203A40"/>
                </a:solidFill>
                <a:latin typeface="Trebuchet MS"/>
                <a:cs typeface="Trebuchet MS"/>
              </a:rPr>
              <a:t>bus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03A40"/>
                </a:solidFill>
                <a:latin typeface="Trebuchet MS"/>
                <a:cs typeface="Trebuchet MS"/>
              </a:rPr>
              <a:t>eventos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03A40"/>
                </a:solidFill>
                <a:latin typeface="Trebuchet MS"/>
                <a:cs typeface="Trebuchet MS"/>
              </a:rPr>
              <a:t>síncrono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03A40"/>
                </a:solidFill>
                <a:latin typeface="Trebuchet MS"/>
                <a:cs typeface="Trebuchet MS"/>
              </a:rPr>
              <a:t>en</a:t>
            </a:r>
            <a:r>
              <a:rPr sz="1900" spc="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03A40"/>
                </a:solidFill>
                <a:latin typeface="Trebuchet MS"/>
                <a:cs typeface="Trebuchet MS"/>
              </a:rPr>
              <a:t>memoria.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16" name="object 1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5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Por</a:t>
            </a:r>
            <a:r>
              <a:rPr spc="-180" dirty="0"/>
              <a:t> </a:t>
            </a:r>
            <a:r>
              <a:rPr spc="-60" dirty="0"/>
              <a:t>qué</a:t>
            </a:r>
            <a:r>
              <a:rPr spc="-180" dirty="0"/>
              <a:t> </a:t>
            </a:r>
            <a:r>
              <a:rPr dirty="0"/>
              <a:t>es</a:t>
            </a:r>
            <a:r>
              <a:rPr spc="-175" dirty="0"/>
              <a:t> </a:t>
            </a:r>
            <a:r>
              <a:rPr spc="-100" dirty="0"/>
              <a:t>arquitectura</a:t>
            </a:r>
            <a:r>
              <a:rPr spc="-180" dirty="0"/>
              <a:t> </a:t>
            </a:r>
            <a:r>
              <a:rPr spc="-55" dirty="0"/>
              <a:t>orientada</a:t>
            </a:r>
            <a:r>
              <a:rPr spc="-180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10" dirty="0"/>
              <a:t>eventos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47108"/>
            <a:ext cx="1120076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manejador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solicitudes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decide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publica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un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evento;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203A40"/>
                </a:solidFill>
                <a:latin typeface="Trebuchet MS"/>
                <a:cs typeface="Trebuchet MS"/>
              </a:rPr>
              <a:t>no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llama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directamente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notificador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ni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reporte.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03A40"/>
                </a:solidFill>
                <a:latin typeface="Trebuchet MS"/>
                <a:cs typeface="Trebuchet MS"/>
              </a:rPr>
              <a:t>bus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entrega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ese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evento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</a:t>
            </a:r>
            <a:r>
              <a:rPr sz="1600" spc="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los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consumidores</a:t>
            </a:r>
            <a:r>
              <a:rPr sz="1600" spc="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registrados.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348" y="2562224"/>
            <a:ext cx="2743200" cy="809625"/>
            <a:chOff x="457348" y="2562224"/>
            <a:chExt cx="2743200" cy="809625"/>
          </a:xfrm>
        </p:grpSpPr>
        <p:sp>
          <p:nvSpPr>
            <p:cNvPr id="5" name="object 5"/>
            <p:cNvSpPr/>
            <p:nvPr/>
          </p:nvSpPr>
          <p:spPr>
            <a:xfrm>
              <a:off x="457348" y="2562224"/>
              <a:ext cx="2743200" cy="809625"/>
            </a:xfrm>
            <a:custGeom>
              <a:avLst/>
              <a:gdLst/>
              <a:ahLst/>
              <a:cxnLst/>
              <a:rect l="l" t="t" r="r" b="b"/>
              <a:pathLst>
                <a:path w="2743200" h="809625">
                  <a:moveTo>
                    <a:pt x="2539999" y="809624"/>
                  </a:moveTo>
                  <a:lnTo>
                    <a:pt x="0" y="809624"/>
                  </a:lnTo>
                  <a:lnTo>
                    <a:pt x="203051" y="403547"/>
                  </a:lnTo>
                  <a:lnTo>
                    <a:pt x="1264" y="0"/>
                  </a:lnTo>
                  <a:lnTo>
                    <a:pt x="2541264" y="0"/>
                  </a:lnTo>
                  <a:lnTo>
                    <a:pt x="2743050" y="403547"/>
                  </a:lnTo>
                  <a:lnTo>
                    <a:pt x="2539999" y="809624"/>
                  </a:lnTo>
                  <a:close/>
                </a:path>
              </a:pathLst>
            </a:custGeom>
            <a:solidFill>
              <a:srgbClr val="B9C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9850" y="2572047"/>
              <a:ext cx="2718435" cy="788035"/>
            </a:xfrm>
            <a:custGeom>
              <a:avLst/>
              <a:gdLst/>
              <a:ahLst/>
              <a:cxnLst/>
              <a:rect l="l" t="t" r="r" b="b"/>
              <a:pathLst>
                <a:path w="2718435" h="788035">
                  <a:moveTo>
                    <a:pt x="2514698" y="787449"/>
                  </a:moveTo>
                  <a:lnTo>
                    <a:pt x="0" y="787449"/>
                  </a:lnTo>
                  <a:lnTo>
                    <a:pt x="203199" y="393724"/>
                  </a:lnTo>
                  <a:lnTo>
                    <a:pt x="0" y="0"/>
                  </a:lnTo>
                  <a:lnTo>
                    <a:pt x="2514698" y="0"/>
                  </a:lnTo>
                  <a:lnTo>
                    <a:pt x="2717899" y="393724"/>
                  </a:lnTo>
                  <a:lnTo>
                    <a:pt x="2514698" y="787449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30672" y="2749550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05174" y="2562224"/>
            <a:ext cx="2740660" cy="809625"/>
            <a:chOff x="3305174" y="2562224"/>
            <a:chExt cx="2740660" cy="809625"/>
          </a:xfrm>
        </p:grpSpPr>
        <p:sp>
          <p:nvSpPr>
            <p:cNvPr id="10" name="object 10"/>
            <p:cNvSpPr/>
            <p:nvPr/>
          </p:nvSpPr>
          <p:spPr>
            <a:xfrm>
              <a:off x="3305174" y="2562224"/>
              <a:ext cx="2740660" cy="809625"/>
            </a:xfrm>
            <a:custGeom>
              <a:avLst/>
              <a:gdLst/>
              <a:ahLst/>
              <a:cxnLst/>
              <a:rect l="l" t="t" r="r" b="b"/>
              <a:pathLst>
                <a:path w="2740660" h="809625">
                  <a:moveTo>
                    <a:pt x="2537023" y="809624"/>
                  </a:moveTo>
                  <a:lnTo>
                    <a:pt x="0" y="809624"/>
                  </a:lnTo>
                  <a:lnTo>
                    <a:pt x="0" y="803375"/>
                  </a:lnTo>
                  <a:lnTo>
                    <a:pt x="199926" y="403547"/>
                  </a:lnTo>
                  <a:lnTo>
                    <a:pt x="0" y="3720"/>
                  </a:lnTo>
                  <a:lnTo>
                    <a:pt x="0" y="0"/>
                  </a:lnTo>
                  <a:lnTo>
                    <a:pt x="2538288" y="0"/>
                  </a:lnTo>
                  <a:lnTo>
                    <a:pt x="2740074" y="403547"/>
                  </a:lnTo>
                  <a:lnTo>
                    <a:pt x="2537023" y="809624"/>
                  </a:lnTo>
                  <a:close/>
                </a:path>
              </a:pathLst>
            </a:custGeom>
            <a:solidFill>
              <a:srgbClr val="B9C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14699" y="2572047"/>
              <a:ext cx="2714625" cy="788035"/>
            </a:xfrm>
            <a:custGeom>
              <a:avLst/>
              <a:gdLst/>
              <a:ahLst/>
              <a:cxnLst/>
              <a:rect l="l" t="t" r="r" b="b"/>
              <a:pathLst>
                <a:path w="2714625" h="788035">
                  <a:moveTo>
                    <a:pt x="2514699" y="787449"/>
                  </a:moveTo>
                  <a:lnTo>
                    <a:pt x="0" y="787449"/>
                  </a:lnTo>
                  <a:lnTo>
                    <a:pt x="0" y="787161"/>
                  </a:lnTo>
                  <a:lnTo>
                    <a:pt x="203051" y="393724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2514699" y="0"/>
                  </a:lnTo>
                  <a:lnTo>
                    <a:pt x="2714624" y="387380"/>
                  </a:lnTo>
                  <a:lnTo>
                    <a:pt x="2714624" y="400069"/>
                  </a:lnTo>
                  <a:lnTo>
                    <a:pt x="2514699" y="787449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75522" y="2749550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46899" y="2562224"/>
            <a:ext cx="2740025" cy="809625"/>
            <a:chOff x="6146899" y="2562224"/>
            <a:chExt cx="2740025" cy="809625"/>
          </a:xfrm>
        </p:grpSpPr>
        <p:sp>
          <p:nvSpPr>
            <p:cNvPr id="15" name="object 15"/>
            <p:cNvSpPr/>
            <p:nvPr/>
          </p:nvSpPr>
          <p:spPr>
            <a:xfrm>
              <a:off x="6146899" y="2562224"/>
              <a:ext cx="2740025" cy="809625"/>
            </a:xfrm>
            <a:custGeom>
              <a:avLst/>
              <a:gdLst/>
              <a:ahLst/>
              <a:cxnLst/>
              <a:rect l="l" t="t" r="r" b="b"/>
              <a:pathLst>
                <a:path w="2740025" h="809625">
                  <a:moveTo>
                    <a:pt x="2540148" y="809624"/>
                  </a:moveTo>
                  <a:lnTo>
                    <a:pt x="0" y="809624"/>
                  </a:lnTo>
                  <a:lnTo>
                    <a:pt x="203050" y="403547"/>
                  </a:lnTo>
                  <a:lnTo>
                    <a:pt x="1264" y="0"/>
                  </a:lnTo>
                  <a:lnTo>
                    <a:pt x="2541413" y="0"/>
                  </a:lnTo>
                  <a:lnTo>
                    <a:pt x="2739925" y="396998"/>
                  </a:lnTo>
                  <a:lnTo>
                    <a:pt x="2739925" y="410096"/>
                  </a:lnTo>
                  <a:lnTo>
                    <a:pt x="2540148" y="809624"/>
                  </a:lnTo>
                  <a:close/>
                </a:path>
              </a:pathLst>
            </a:custGeom>
            <a:solidFill>
              <a:srgbClr val="B9C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62674" y="2572047"/>
              <a:ext cx="2714625" cy="788035"/>
            </a:xfrm>
            <a:custGeom>
              <a:avLst/>
              <a:gdLst/>
              <a:ahLst/>
              <a:cxnLst/>
              <a:rect l="l" t="t" r="r" b="b"/>
              <a:pathLst>
                <a:path w="2714625" h="788035">
                  <a:moveTo>
                    <a:pt x="2511573" y="787449"/>
                  </a:moveTo>
                  <a:lnTo>
                    <a:pt x="0" y="787449"/>
                  </a:lnTo>
                  <a:lnTo>
                    <a:pt x="0" y="781106"/>
                  </a:lnTo>
                  <a:lnTo>
                    <a:pt x="199925" y="393724"/>
                  </a:lnTo>
                  <a:lnTo>
                    <a:pt x="0" y="6343"/>
                  </a:lnTo>
                  <a:lnTo>
                    <a:pt x="0" y="0"/>
                  </a:lnTo>
                  <a:lnTo>
                    <a:pt x="2511573" y="0"/>
                  </a:lnTo>
                  <a:lnTo>
                    <a:pt x="2714624" y="393435"/>
                  </a:lnTo>
                  <a:lnTo>
                    <a:pt x="2714624" y="394013"/>
                  </a:lnTo>
                  <a:lnTo>
                    <a:pt x="2511573" y="787449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20371" y="2749550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3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91748" y="2562224"/>
            <a:ext cx="2743200" cy="809625"/>
            <a:chOff x="8991748" y="2562224"/>
            <a:chExt cx="2743200" cy="809625"/>
          </a:xfrm>
        </p:grpSpPr>
        <p:sp>
          <p:nvSpPr>
            <p:cNvPr id="20" name="object 20"/>
            <p:cNvSpPr/>
            <p:nvPr/>
          </p:nvSpPr>
          <p:spPr>
            <a:xfrm>
              <a:off x="8991748" y="2562224"/>
              <a:ext cx="2743200" cy="809625"/>
            </a:xfrm>
            <a:custGeom>
              <a:avLst/>
              <a:gdLst/>
              <a:ahLst/>
              <a:cxnLst/>
              <a:rect l="l" t="t" r="r" b="b"/>
              <a:pathLst>
                <a:path w="2743200" h="809625">
                  <a:moveTo>
                    <a:pt x="2539999" y="809624"/>
                  </a:moveTo>
                  <a:lnTo>
                    <a:pt x="0" y="809624"/>
                  </a:lnTo>
                  <a:lnTo>
                    <a:pt x="203050" y="403547"/>
                  </a:lnTo>
                  <a:lnTo>
                    <a:pt x="1264" y="0"/>
                  </a:lnTo>
                  <a:lnTo>
                    <a:pt x="2541264" y="0"/>
                  </a:lnTo>
                  <a:lnTo>
                    <a:pt x="2743050" y="403547"/>
                  </a:lnTo>
                  <a:lnTo>
                    <a:pt x="2539999" y="809624"/>
                  </a:lnTo>
                  <a:close/>
                </a:path>
              </a:pathLst>
            </a:custGeom>
            <a:solidFill>
              <a:srgbClr val="B9C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04249" y="2572047"/>
              <a:ext cx="2718435" cy="788035"/>
            </a:xfrm>
            <a:custGeom>
              <a:avLst/>
              <a:gdLst/>
              <a:ahLst/>
              <a:cxnLst/>
              <a:rect l="l" t="t" r="r" b="b"/>
              <a:pathLst>
                <a:path w="2718434" h="788035">
                  <a:moveTo>
                    <a:pt x="2514698" y="787449"/>
                  </a:moveTo>
                  <a:lnTo>
                    <a:pt x="0" y="787449"/>
                  </a:lnTo>
                  <a:lnTo>
                    <a:pt x="203199" y="393724"/>
                  </a:lnTo>
                  <a:lnTo>
                    <a:pt x="0" y="0"/>
                  </a:lnTo>
                  <a:lnTo>
                    <a:pt x="2514698" y="0"/>
                  </a:lnTo>
                  <a:lnTo>
                    <a:pt x="2717898" y="393724"/>
                  </a:lnTo>
                  <a:lnTo>
                    <a:pt x="2514698" y="787449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265071" y="2749550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4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650" y="3441731"/>
            <a:ext cx="2215515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Solicitud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20500"/>
              </a:lnSpc>
              <a:spcBef>
                <a:spcPts val="1250"/>
              </a:spcBef>
            </a:pP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Estudiante,</a:t>
            </a:r>
            <a:r>
              <a:rPr sz="1400" spc="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equipo</a:t>
            </a:r>
            <a:r>
              <a:rPr sz="1400" spc="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203A40"/>
                </a:solidFill>
                <a:latin typeface="Trebuchet MS"/>
                <a:cs typeface="Trebuchet MS"/>
              </a:rPr>
              <a:t>y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cantidad</a:t>
            </a:r>
            <a:r>
              <a:rPr sz="14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entran</a:t>
            </a:r>
            <a:r>
              <a:rPr sz="14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4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sistema.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2351" y="3441731"/>
            <a:ext cx="1884680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Manejador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1285"/>
              </a:spcBef>
            </a:pPr>
            <a:r>
              <a:rPr sz="1400" spc="-25" dirty="0">
                <a:solidFill>
                  <a:srgbClr val="203A40"/>
                </a:solidFill>
                <a:latin typeface="Trebuchet MS"/>
                <a:cs typeface="Trebuchet MS"/>
              </a:rPr>
              <a:t>Verifica</a:t>
            </a:r>
            <a:r>
              <a:rPr sz="1400" spc="-6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disponibilidad, actualiza</a:t>
            </a:r>
            <a:r>
              <a:rPr sz="14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4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03A40"/>
                </a:solidFill>
                <a:latin typeface="Trebuchet MS"/>
                <a:cs typeface="Trebuchet MS"/>
              </a:rPr>
              <a:t>y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publica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 evento.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37200" y="3441731"/>
            <a:ext cx="204533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12252A"/>
                </a:solidFill>
                <a:latin typeface="Trebuchet MS"/>
                <a:cs typeface="Trebuchet MS"/>
              </a:rPr>
              <a:t>Bus</a:t>
            </a:r>
            <a:r>
              <a:rPr sz="1900" b="1" spc="-80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12252A"/>
                </a:solidFill>
                <a:latin typeface="Trebuchet MS"/>
                <a:cs typeface="Trebuchet MS"/>
              </a:rPr>
              <a:t>de</a:t>
            </a:r>
            <a:r>
              <a:rPr sz="1900" b="1" spc="-80" dirty="0">
                <a:solidFill>
                  <a:srgbClr val="12252A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eventos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18300"/>
              </a:lnSpc>
              <a:spcBef>
                <a:spcPts val="1285"/>
              </a:spcBef>
            </a:pP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Entrega</a:t>
            </a:r>
            <a:r>
              <a:rPr sz="14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4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evento</a:t>
            </a:r>
            <a:r>
              <a:rPr sz="14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a</a:t>
            </a:r>
            <a:r>
              <a:rPr sz="14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03A40"/>
                </a:solidFill>
                <a:latin typeface="Trebuchet MS"/>
                <a:cs typeface="Trebuchet MS"/>
              </a:rPr>
              <a:t>cada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consumidor</a:t>
            </a:r>
            <a:r>
              <a:rPr sz="1400" spc="10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suscrito</a:t>
            </a:r>
            <a:r>
              <a:rPr sz="1400" spc="10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a</a:t>
            </a:r>
            <a:r>
              <a:rPr sz="1400" spc="10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203A40"/>
                </a:solidFill>
                <a:latin typeface="Trebuchet MS"/>
                <a:cs typeface="Trebuchet MS"/>
              </a:rPr>
              <a:t>su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tipo.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82050" y="3441731"/>
            <a:ext cx="187388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2252A"/>
                </a:solidFill>
                <a:latin typeface="Trebuchet MS"/>
                <a:cs typeface="Trebuchet MS"/>
              </a:rPr>
              <a:t>Consumidores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1285"/>
              </a:spcBef>
            </a:pP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Notificador</a:t>
            </a:r>
            <a:r>
              <a:rPr sz="1400" spc="-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4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Reporte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reaccionan sin volver</a:t>
            </a:r>
            <a:r>
              <a:rPr sz="14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03A40"/>
                </a:solidFill>
                <a:latin typeface="Trebuchet MS"/>
                <a:cs typeface="Trebuchet MS"/>
              </a:rPr>
              <a:t>a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decidir.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4500" y="5749276"/>
            <a:ext cx="1109472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b="1" dirty="0">
                <a:solidFill>
                  <a:srgbClr val="4A646A"/>
                </a:solidFill>
                <a:latin typeface="Courier New"/>
                <a:cs typeface="Courier New"/>
              </a:rPr>
              <a:t>Idea</a:t>
            </a:r>
            <a:r>
              <a:rPr sz="1100" b="1" spc="25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A646A"/>
                </a:solidFill>
                <a:latin typeface="Courier New"/>
                <a:cs typeface="Courier New"/>
              </a:rPr>
              <a:t>central:</a:t>
            </a:r>
            <a:r>
              <a:rPr sz="1100" b="1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el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manejador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decide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y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publica;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el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bus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distribuye;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los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consumidores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reaccionan.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Esto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reduce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el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acoplamiento</a:t>
            </a:r>
            <a:r>
              <a:rPr sz="1100" spc="25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y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4A646A"/>
                </a:solidFill>
                <a:latin typeface="Courier New"/>
                <a:cs typeface="Courier New"/>
              </a:rPr>
              <a:t>permite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sumar</a:t>
            </a:r>
            <a:r>
              <a:rPr sz="1100" spc="25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consumidores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sin</a:t>
            </a:r>
            <a:r>
              <a:rPr sz="1100" spc="25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tocar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A646A"/>
                </a:solidFill>
                <a:latin typeface="Courier New"/>
                <a:cs typeface="Courier New"/>
              </a:rPr>
              <a:t>el</a:t>
            </a:r>
            <a:r>
              <a:rPr sz="1100" spc="30" dirty="0">
                <a:solidFill>
                  <a:srgbClr val="4A646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4A646A"/>
                </a:solidFill>
                <a:latin typeface="Courier New"/>
                <a:cs typeface="Courier New"/>
              </a:rPr>
              <a:t>manejador.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25" name="object 2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6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393731"/>
            <a:ext cx="4825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Estructura</a:t>
            </a:r>
            <a:r>
              <a:rPr spc="-180" dirty="0"/>
              <a:t> </a:t>
            </a:r>
            <a:r>
              <a:rPr spc="-65" dirty="0"/>
              <a:t>mínima</a:t>
            </a:r>
            <a:r>
              <a:rPr spc="-180" dirty="0"/>
              <a:t> </a:t>
            </a:r>
            <a:r>
              <a:rPr spc="-40" dirty="0"/>
              <a:t>de</a:t>
            </a:r>
            <a:r>
              <a:rPr spc="-180" dirty="0"/>
              <a:t> </a:t>
            </a:r>
            <a:r>
              <a:rPr spc="-25" dirty="0"/>
              <a:t>archivos</a:t>
            </a:r>
          </a:p>
        </p:txBody>
      </p:sp>
      <p:sp>
        <p:nvSpPr>
          <p:cNvPr id="3" name="object 3"/>
          <p:cNvSpPr/>
          <p:nvPr/>
        </p:nvSpPr>
        <p:spPr>
          <a:xfrm>
            <a:off x="461962" y="110966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5"/>
                </a:lnTo>
                <a:lnTo>
                  <a:pt x="247386" y="177795"/>
                </a:lnTo>
                <a:lnTo>
                  <a:pt x="244155" y="185596"/>
                </a:lnTo>
                <a:lnTo>
                  <a:pt x="219512" y="219512"/>
                </a:lnTo>
                <a:lnTo>
                  <a:pt x="200026" y="235503"/>
                </a:lnTo>
                <a:lnTo>
                  <a:pt x="193006" y="240194"/>
                </a:lnTo>
                <a:lnTo>
                  <a:pt x="153673" y="254704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4"/>
                </a:lnTo>
                <a:lnTo>
                  <a:pt x="95220" y="253056"/>
                </a:lnTo>
                <a:lnTo>
                  <a:pt x="57148" y="235503"/>
                </a:lnTo>
                <a:lnTo>
                  <a:pt x="50127" y="230813"/>
                </a:lnTo>
                <a:lnTo>
                  <a:pt x="21670" y="200026"/>
                </a:lnTo>
                <a:lnTo>
                  <a:pt x="16980" y="193006"/>
                </a:lnTo>
                <a:lnTo>
                  <a:pt x="13019" y="185596"/>
                </a:lnTo>
                <a:lnTo>
                  <a:pt x="9788" y="177795"/>
                </a:lnTo>
                <a:lnTo>
                  <a:pt x="6557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9788" y="79379"/>
                </a:lnTo>
                <a:lnTo>
                  <a:pt x="31692" y="43632"/>
                </a:lnTo>
                <a:lnTo>
                  <a:pt x="64168" y="16979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3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07047" y="26361"/>
                </a:lnTo>
                <a:lnTo>
                  <a:pt x="235503" y="57147"/>
                </a:lnTo>
                <a:lnTo>
                  <a:pt x="240194" y="64168"/>
                </a:lnTo>
                <a:lnTo>
                  <a:pt x="254704" y="103501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6762" y="1095374"/>
            <a:ext cx="2219325" cy="495300"/>
          </a:xfrm>
          <a:custGeom>
            <a:avLst/>
            <a:gdLst/>
            <a:ahLst/>
            <a:cxnLst/>
            <a:rect l="l" t="t" r="r" b="b"/>
            <a:pathLst>
              <a:path w="2219325" h="495300">
                <a:moveTo>
                  <a:pt x="1628775" y="19278"/>
                </a:moveTo>
                <a:lnTo>
                  <a:pt x="1609509" y="0"/>
                </a:lnTo>
                <a:lnTo>
                  <a:pt x="19278" y="0"/>
                </a:lnTo>
                <a:lnTo>
                  <a:pt x="0" y="19278"/>
                </a:lnTo>
                <a:lnTo>
                  <a:pt x="0" y="215900"/>
                </a:lnTo>
                <a:lnTo>
                  <a:pt x="0" y="218859"/>
                </a:lnTo>
                <a:lnTo>
                  <a:pt x="19278" y="238125"/>
                </a:lnTo>
                <a:lnTo>
                  <a:pt x="1609509" y="238125"/>
                </a:lnTo>
                <a:lnTo>
                  <a:pt x="1628775" y="218859"/>
                </a:lnTo>
                <a:lnTo>
                  <a:pt x="1628775" y="19278"/>
                </a:lnTo>
                <a:close/>
              </a:path>
              <a:path w="2219325" h="495300">
                <a:moveTo>
                  <a:pt x="2219325" y="276453"/>
                </a:moveTo>
                <a:lnTo>
                  <a:pt x="2200059" y="257175"/>
                </a:lnTo>
                <a:lnTo>
                  <a:pt x="1028928" y="257175"/>
                </a:lnTo>
                <a:lnTo>
                  <a:pt x="1009650" y="276453"/>
                </a:lnTo>
                <a:lnTo>
                  <a:pt x="1009650" y="473075"/>
                </a:lnTo>
                <a:lnTo>
                  <a:pt x="1009650" y="476034"/>
                </a:lnTo>
                <a:lnTo>
                  <a:pt x="1028928" y="495300"/>
                </a:lnTo>
                <a:lnTo>
                  <a:pt x="2200059" y="495300"/>
                </a:lnTo>
                <a:lnTo>
                  <a:pt x="2219325" y="476034"/>
                </a:lnTo>
                <a:lnTo>
                  <a:pt x="2219325" y="2764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0011" y="110966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5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3" y="153673"/>
                </a:lnTo>
                <a:lnTo>
                  <a:pt x="253056" y="161954"/>
                </a:lnTo>
                <a:lnTo>
                  <a:pt x="235503" y="200026"/>
                </a:lnTo>
                <a:lnTo>
                  <a:pt x="230813" y="207047"/>
                </a:lnTo>
                <a:lnTo>
                  <a:pt x="200026" y="235503"/>
                </a:lnTo>
                <a:lnTo>
                  <a:pt x="193006" y="240194"/>
                </a:lnTo>
                <a:lnTo>
                  <a:pt x="153673" y="25470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4"/>
                </a:lnTo>
                <a:lnTo>
                  <a:pt x="95220" y="253056"/>
                </a:lnTo>
                <a:lnTo>
                  <a:pt x="87179" y="250617"/>
                </a:lnTo>
                <a:lnTo>
                  <a:pt x="79379" y="247386"/>
                </a:lnTo>
                <a:lnTo>
                  <a:pt x="71578" y="244155"/>
                </a:lnTo>
                <a:lnTo>
                  <a:pt x="64168" y="240194"/>
                </a:lnTo>
                <a:lnTo>
                  <a:pt x="57147" y="235503"/>
                </a:lnTo>
                <a:lnTo>
                  <a:pt x="50127" y="230813"/>
                </a:lnTo>
                <a:lnTo>
                  <a:pt x="43632" y="225482"/>
                </a:lnTo>
                <a:lnTo>
                  <a:pt x="37662" y="219512"/>
                </a:lnTo>
                <a:lnTo>
                  <a:pt x="31692" y="213542"/>
                </a:lnTo>
                <a:lnTo>
                  <a:pt x="26361" y="207047"/>
                </a:lnTo>
                <a:lnTo>
                  <a:pt x="21670" y="200026"/>
                </a:lnTo>
                <a:lnTo>
                  <a:pt x="16980" y="193006"/>
                </a:lnTo>
                <a:lnTo>
                  <a:pt x="13018" y="185596"/>
                </a:lnTo>
                <a:lnTo>
                  <a:pt x="9788" y="177795"/>
                </a:lnTo>
                <a:lnTo>
                  <a:pt x="6556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9788" y="79379"/>
                </a:lnTo>
                <a:lnTo>
                  <a:pt x="13019" y="71578"/>
                </a:lnTo>
                <a:lnTo>
                  <a:pt x="16980" y="64168"/>
                </a:lnTo>
                <a:lnTo>
                  <a:pt x="21670" y="57147"/>
                </a:lnTo>
                <a:lnTo>
                  <a:pt x="26361" y="50127"/>
                </a:lnTo>
                <a:lnTo>
                  <a:pt x="31692" y="43632"/>
                </a:lnTo>
                <a:lnTo>
                  <a:pt x="37662" y="37662"/>
                </a:lnTo>
                <a:lnTo>
                  <a:pt x="43632" y="31692"/>
                </a:lnTo>
                <a:lnTo>
                  <a:pt x="79379" y="9788"/>
                </a:lnTo>
                <a:lnTo>
                  <a:pt x="87179" y="6557"/>
                </a:lnTo>
                <a:lnTo>
                  <a:pt x="95220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4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30813" y="50127"/>
                </a:lnTo>
                <a:lnTo>
                  <a:pt x="250617" y="87179"/>
                </a:lnTo>
                <a:lnTo>
                  <a:pt x="257174" y="120144"/>
                </a:lnTo>
                <a:lnTo>
                  <a:pt x="257175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4824" y="1095374"/>
            <a:ext cx="2000250" cy="238125"/>
          </a:xfrm>
          <a:custGeom>
            <a:avLst/>
            <a:gdLst/>
            <a:ahLst/>
            <a:cxnLst/>
            <a:rect l="l" t="t" r="r" b="b"/>
            <a:pathLst>
              <a:path w="2000250" h="238125">
                <a:moveTo>
                  <a:pt x="1980972" y="238124"/>
                </a:moveTo>
                <a:lnTo>
                  <a:pt x="19277" y="238124"/>
                </a:lnTo>
                <a:lnTo>
                  <a:pt x="16442" y="237560"/>
                </a:lnTo>
                <a:lnTo>
                  <a:pt x="0" y="218847"/>
                </a:lnTo>
                <a:lnTo>
                  <a:pt x="0" y="215900"/>
                </a:lnTo>
                <a:lnTo>
                  <a:pt x="0" y="19277"/>
                </a:lnTo>
                <a:lnTo>
                  <a:pt x="19277" y="0"/>
                </a:lnTo>
                <a:lnTo>
                  <a:pt x="1980972" y="0"/>
                </a:lnTo>
                <a:lnTo>
                  <a:pt x="2000249" y="19277"/>
                </a:lnTo>
                <a:lnTo>
                  <a:pt x="2000249" y="218847"/>
                </a:lnTo>
                <a:lnTo>
                  <a:pt x="1983806" y="237560"/>
                </a:lnTo>
                <a:lnTo>
                  <a:pt x="1980972" y="238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962" y="292893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5"/>
                </a:lnTo>
                <a:lnTo>
                  <a:pt x="247386" y="177795"/>
                </a:lnTo>
                <a:lnTo>
                  <a:pt x="244155" y="185595"/>
                </a:lnTo>
                <a:lnTo>
                  <a:pt x="219512" y="219512"/>
                </a:lnTo>
                <a:lnTo>
                  <a:pt x="185596" y="244155"/>
                </a:lnTo>
                <a:lnTo>
                  <a:pt x="153673" y="254703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3"/>
                </a:lnTo>
                <a:lnTo>
                  <a:pt x="95220" y="253056"/>
                </a:lnTo>
                <a:lnTo>
                  <a:pt x="87179" y="250617"/>
                </a:lnTo>
                <a:lnTo>
                  <a:pt x="79379" y="247386"/>
                </a:lnTo>
                <a:lnTo>
                  <a:pt x="71578" y="244155"/>
                </a:lnTo>
                <a:lnTo>
                  <a:pt x="37662" y="219512"/>
                </a:lnTo>
                <a:lnTo>
                  <a:pt x="13019" y="185595"/>
                </a:lnTo>
                <a:lnTo>
                  <a:pt x="9788" y="177795"/>
                </a:lnTo>
                <a:lnTo>
                  <a:pt x="6557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21670" y="57147"/>
                </a:lnTo>
                <a:lnTo>
                  <a:pt x="26361" y="50127"/>
                </a:lnTo>
                <a:lnTo>
                  <a:pt x="31692" y="43632"/>
                </a:lnTo>
                <a:lnTo>
                  <a:pt x="37662" y="37661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8" y="21670"/>
                </a:lnTo>
                <a:lnTo>
                  <a:pt x="64168" y="16979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3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07047" y="26361"/>
                </a:lnTo>
                <a:lnTo>
                  <a:pt x="235503" y="57147"/>
                </a:lnTo>
                <a:lnTo>
                  <a:pt x="247386" y="79378"/>
                </a:lnTo>
                <a:lnTo>
                  <a:pt x="250617" y="87179"/>
                </a:lnTo>
                <a:lnTo>
                  <a:pt x="253056" y="95220"/>
                </a:lnTo>
                <a:lnTo>
                  <a:pt x="254704" y="103501"/>
                </a:lnTo>
                <a:lnTo>
                  <a:pt x="256351" y="111782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6774" y="2914649"/>
            <a:ext cx="1924050" cy="238125"/>
          </a:xfrm>
          <a:custGeom>
            <a:avLst/>
            <a:gdLst/>
            <a:ahLst/>
            <a:cxnLst/>
            <a:rect l="l" t="t" r="r" b="b"/>
            <a:pathLst>
              <a:path w="1924050" h="238125">
                <a:moveTo>
                  <a:pt x="1904771" y="238124"/>
                </a:moveTo>
                <a:lnTo>
                  <a:pt x="19277" y="238124"/>
                </a:lnTo>
                <a:lnTo>
                  <a:pt x="16442" y="237560"/>
                </a:lnTo>
                <a:lnTo>
                  <a:pt x="0" y="218847"/>
                </a:lnTo>
                <a:lnTo>
                  <a:pt x="0" y="215899"/>
                </a:lnTo>
                <a:lnTo>
                  <a:pt x="0" y="19277"/>
                </a:lnTo>
                <a:lnTo>
                  <a:pt x="19277" y="0"/>
                </a:lnTo>
                <a:lnTo>
                  <a:pt x="1904771" y="0"/>
                </a:lnTo>
                <a:lnTo>
                  <a:pt x="1924049" y="19277"/>
                </a:lnTo>
                <a:lnTo>
                  <a:pt x="1924049" y="218847"/>
                </a:lnTo>
                <a:lnTo>
                  <a:pt x="1907606" y="237560"/>
                </a:lnTo>
                <a:lnTo>
                  <a:pt x="1904771" y="238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0011" y="292893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5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3" y="153673"/>
                </a:lnTo>
                <a:lnTo>
                  <a:pt x="253056" y="161954"/>
                </a:lnTo>
                <a:lnTo>
                  <a:pt x="235503" y="200026"/>
                </a:lnTo>
                <a:lnTo>
                  <a:pt x="230813" y="207046"/>
                </a:lnTo>
                <a:lnTo>
                  <a:pt x="200026" y="235503"/>
                </a:lnTo>
                <a:lnTo>
                  <a:pt x="177795" y="247386"/>
                </a:lnTo>
                <a:lnTo>
                  <a:pt x="169995" y="250617"/>
                </a:lnTo>
                <a:lnTo>
                  <a:pt x="161954" y="253056"/>
                </a:lnTo>
                <a:lnTo>
                  <a:pt x="153673" y="254703"/>
                </a:lnTo>
                <a:lnTo>
                  <a:pt x="145392" y="256351"/>
                </a:lnTo>
                <a:lnTo>
                  <a:pt x="137030" y="257174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111782" y="256351"/>
                </a:lnTo>
                <a:lnTo>
                  <a:pt x="103501" y="254703"/>
                </a:lnTo>
                <a:lnTo>
                  <a:pt x="95220" y="253056"/>
                </a:lnTo>
                <a:lnTo>
                  <a:pt x="87179" y="250617"/>
                </a:lnTo>
                <a:lnTo>
                  <a:pt x="79379" y="247386"/>
                </a:lnTo>
                <a:lnTo>
                  <a:pt x="71578" y="244155"/>
                </a:lnTo>
                <a:lnTo>
                  <a:pt x="37662" y="219512"/>
                </a:lnTo>
                <a:lnTo>
                  <a:pt x="13018" y="185595"/>
                </a:lnTo>
                <a:lnTo>
                  <a:pt x="9788" y="177795"/>
                </a:lnTo>
                <a:lnTo>
                  <a:pt x="6556" y="169995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8" y="95220"/>
                </a:lnTo>
                <a:lnTo>
                  <a:pt x="6557" y="87179"/>
                </a:lnTo>
                <a:lnTo>
                  <a:pt x="9788" y="79378"/>
                </a:lnTo>
                <a:lnTo>
                  <a:pt x="13019" y="71578"/>
                </a:lnTo>
                <a:lnTo>
                  <a:pt x="16980" y="64167"/>
                </a:lnTo>
                <a:lnTo>
                  <a:pt x="21670" y="57147"/>
                </a:lnTo>
                <a:lnTo>
                  <a:pt x="26361" y="50127"/>
                </a:lnTo>
                <a:lnTo>
                  <a:pt x="31692" y="43632"/>
                </a:lnTo>
                <a:lnTo>
                  <a:pt x="37662" y="37661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8" y="16979"/>
                </a:lnTo>
                <a:lnTo>
                  <a:pt x="71578" y="13018"/>
                </a:lnTo>
                <a:lnTo>
                  <a:pt x="79379" y="9787"/>
                </a:lnTo>
                <a:lnTo>
                  <a:pt x="87179" y="6556"/>
                </a:lnTo>
                <a:lnTo>
                  <a:pt x="95220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4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07047" y="26361"/>
                </a:lnTo>
                <a:lnTo>
                  <a:pt x="235504" y="57147"/>
                </a:lnTo>
                <a:lnTo>
                  <a:pt x="253056" y="95220"/>
                </a:lnTo>
                <a:lnTo>
                  <a:pt x="254704" y="103501"/>
                </a:lnTo>
                <a:lnTo>
                  <a:pt x="256351" y="111782"/>
                </a:lnTo>
                <a:lnTo>
                  <a:pt x="257174" y="120144"/>
                </a:lnTo>
                <a:lnTo>
                  <a:pt x="257175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14824" y="2914649"/>
            <a:ext cx="2400300" cy="238125"/>
          </a:xfrm>
          <a:custGeom>
            <a:avLst/>
            <a:gdLst/>
            <a:ahLst/>
            <a:cxnLst/>
            <a:rect l="l" t="t" r="r" b="b"/>
            <a:pathLst>
              <a:path w="2400300" h="238125">
                <a:moveTo>
                  <a:pt x="2381022" y="238124"/>
                </a:moveTo>
                <a:lnTo>
                  <a:pt x="19277" y="238124"/>
                </a:lnTo>
                <a:lnTo>
                  <a:pt x="16442" y="237560"/>
                </a:lnTo>
                <a:lnTo>
                  <a:pt x="0" y="218847"/>
                </a:lnTo>
                <a:lnTo>
                  <a:pt x="0" y="215899"/>
                </a:lnTo>
                <a:lnTo>
                  <a:pt x="0" y="19277"/>
                </a:lnTo>
                <a:lnTo>
                  <a:pt x="19277" y="0"/>
                </a:lnTo>
                <a:lnTo>
                  <a:pt x="2381022" y="0"/>
                </a:lnTo>
                <a:lnTo>
                  <a:pt x="2400299" y="19277"/>
                </a:lnTo>
                <a:lnTo>
                  <a:pt x="2400299" y="218847"/>
                </a:lnTo>
                <a:lnTo>
                  <a:pt x="2383857" y="237560"/>
                </a:lnTo>
                <a:lnTo>
                  <a:pt x="2381022" y="238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1962" y="462438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128587"/>
                </a:moveTo>
                <a:lnTo>
                  <a:pt x="257174" y="137030"/>
                </a:lnTo>
                <a:lnTo>
                  <a:pt x="256351" y="145392"/>
                </a:lnTo>
                <a:lnTo>
                  <a:pt x="254704" y="153673"/>
                </a:lnTo>
                <a:lnTo>
                  <a:pt x="253056" y="161954"/>
                </a:lnTo>
                <a:lnTo>
                  <a:pt x="250617" y="169994"/>
                </a:lnTo>
                <a:lnTo>
                  <a:pt x="247386" y="177795"/>
                </a:lnTo>
                <a:lnTo>
                  <a:pt x="244155" y="185595"/>
                </a:lnTo>
                <a:lnTo>
                  <a:pt x="219512" y="219512"/>
                </a:lnTo>
                <a:lnTo>
                  <a:pt x="185596" y="244154"/>
                </a:lnTo>
                <a:lnTo>
                  <a:pt x="145392" y="256350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79379" y="247386"/>
                </a:lnTo>
                <a:lnTo>
                  <a:pt x="43632" y="225482"/>
                </a:lnTo>
                <a:lnTo>
                  <a:pt x="16980" y="193005"/>
                </a:lnTo>
                <a:lnTo>
                  <a:pt x="9788" y="177795"/>
                </a:lnTo>
                <a:lnTo>
                  <a:pt x="6557" y="169994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823" y="111781"/>
                </a:lnTo>
                <a:lnTo>
                  <a:pt x="2470" y="103500"/>
                </a:lnTo>
                <a:lnTo>
                  <a:pt x="4117" y="95219"/>
                </a:lnTo>
                <a:lnTo>
                  <a:pt x="21670" y="57147"/>
                </a:lnTo>
                <a:lnTo>
                  <a:pt x="37662" y="37661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8" y="21670"/>
                </a:lnTo>
                <a:lnTo>
                  <a:pt x="64168" y="16979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3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30813" y="50127"/>
                </a:lnTo>
                <a:lnTo>
                  <a:pt x="247386" y="79378"/>
                </a:lnTo>
                <a:lnTo>
                  <a:pt x="250617" y="87178"/>
                </a:lnTo>
                <a:lnTo>
                  <a:pt x="253056" y="95219"/>
                </a:lnTo>
                <a:lnTo>
                  <a:pt x="254704" y="103500"/>
                </a:lnTo>
                <a:lnTo>
                  <a:pt x="256351" y="111781"/>
                </a:lnTo>
                <a:lnTo>
                  <a:pt x="257174" y="120144"/>
                </a:lnTo>
                <a:lnTo>
                  <a:pt x="257174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6774" y="4610099"/>
            <a:ext cx="2124075" cy="238125"/>
          </a:xfrm>
          <a:custGeom>
            <a:avLst/>
            <a:gdLst/>
            <a:ahLst/>
            <a:cxnLst/>
            <a:rect l="l" t="t" r="r" b="b"/>
            <a:pathLst>
              <a:path w="2124075" h="238125">
                <a:moveTo>
                  <a:pt x="2104796" y="238124"/>
                </a:moveTo>
                <a:lnTo>
                  <a:pt x="19277" y="238124"/>
                </a:lnTo>
                <a:lnTo>
                  <a:pt x="16442" y="237560"/>
                </a:lnTo>
                <a:lnTo>
                  <a:pt x="0" y="218846"/>
                </a:lnTo>
                <a:lnTo>
                  <a:pt x="0" y="215899"/>
                </a:lnTo>
                <a:lnTo>
                  <a:pt x="0" y="19277"/>
                </a:lnTo>
                <a:lnTo>
                  <a:pt x="19277" y="0"/>
                </a:lnTo>
                <a:lnTo>
                  <a:pt x="2104796" y="0"/>
                </a:lnTo>
                <a:lnTo>
                  <a:pt x="2124074" y="19277"/>
                </a:lnTo>
                <a:lnTo>
                  <a:pt x="2124074" y="218846"/>
                </a:lnTo>
                <a:lnTo>
                  <a:pt x="2107631" y="237560"/>
                </a:lnTo>
                <a:lnTo>
                  <a:pt x="2104796" y="238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10011" y="4624387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5" y="128587"/>
                </a:moveTo>
                <a:lnTo>
                  <a:pt x="250617" y="169994"/>
                </a:lnTo>
                <a:lnTo>
                  <a:pt x="235503" y="200026"/>
                </a:lnTo>
                <a:lnTo>
                  <a:pt x="230813" y="207046"/>
                </a:lnTo>
                <a:lnTo>
                  <a:pt x="200026" y="235503"/>
                </a:lnTo>
                <a:lnTo>
                  <a:pt x="193006" y="240194"/>
                </a:lnTo>
                <a:lnTo>
                  <a:pt x="153673" y="254703"/>
                </a:lnTo>
                <a:lnTo>
                  <a:pt x="128587" y="257174"/>
                </a:lnTo>
                <a:lnTo>
                  <a:pt x="120144" y="257174"/>
                </a:lnTo>
                <a:lnTo>
                  <a:pt x="79379" y="247386"/>
                </a:lnTo>
                <a:lnTo>
                  <a:pt x="43632" y="225482"/>
                </a:lnTo>
                <a:lnTo>
                  <a:pt x="21670" y="200026"/>
                </a:lnTo>
                <a:lnTo>
                  <a:pt x="16980" y="193005"/>
                </a:lnTo>
                <a:lnTo>
                  <a:pt x="13018" y="185595"/>
                </a:lnTo>
                <a:lnTo>
                  <a:pt x="9788" y="177795"/>
                </a:lnTo>
                <a:lnTo>
                  <a:pt x="6556" y="169994"/>
                </a:lnTo>
                <a:lnTo>
                  <a:pt x="4117" y="161954"/>
                </a:lnTo>
                <a:lnTo>
                  <a:pt x="2470" y="153673"/>
                </a:lnTo>
                <a:lnTo>
                  <a:pt x="823" y="145392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823" y="111781"/>
                </a:lnTo>
                <a:lnTo>
                  <a:pt x="2470" y="103500"/>
                </a:lnTo>
                <a:lnTo>
                  <a:pt x="4118" y="95219"/>
                </a:lnTo>
                <a:lnTo>
                  <a:pt x="6557" y="87178"/>
                </a:lnTo>
                <a:lnTo>
                  <a:pt x="9788" y="79378"/>
                </a:lnTo>
                <a:lnTo>
                  <a:pt x="13019" y="71577"/>
                </a:lnTo>
                <a:lnTo>
                  <a:pt x="37662" y="37661"/>
                </a:lnTo>
                <a:lnTo>
                  <a:pt x="43632" y="31691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8" y="16979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7" y="0"/>
                </a:lnTo>
                <a:lnTo>
                  <a:pt x="137030" y="0"/>
                </a:lnTo>
                <a:lnTo>
                  <a:pt x="145392" y="823"/>
                </a:lnTo>
                <a:lnTo>
                  <a:pt x="153674" y="2470"/>
                </a:lnTo>
                <a:lnTo>
                  <a:pt x="161954" y="4117"/>
                </a:lnTo>
                <a:lnTo>
                  <a:pt x="200026" y="21670"/>
                </a:lnTo>
                <a:lnTo>
                  <a:pt x="230813" y="50127"/>
                </a:lnTo>
                <a:lnTo>
                  <a:pt x="250617" y="87178"/>
                </a:lnTo>
                <a:lnTo>
                  <a:pt x="254704" y="103500"/>
                </a:lnTo>
                <a:lnTo>
                  <a:pt x="256351" y="111781"/>
                </a:lnTo>
                <a:lnTo>
                  <a:pt x="257174" y="120144"/>
                </a:lnTo>
                <a:lnTo>
                  <a:pt x="257175" y="128587"/>
                </a:lnTo>
                <a:close/>
              </a:path>
            </a:pathLst>
          </a:custGeom>
          <a:ln w="9524">
            <a:solidFill>
              <a:srgbClr val="0A6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14824" y="4610099"/>
            <a:ext cx="676275" cy="238125"/>
          </a:xfrm>
          <a:custGeom>
            <a:avLst/>
            <a:gdLst/>
            <a:ahLst/>
            <a:cxnLst/>
            <a:rect l="l" t="t" r="r" b="b"/>
            <a:pathLst>
              <a:path w="676275" h="238125">
                <a:moveTo>
                  <a:pt x="656997" y="238124"/>
                </a:moveTo>
                <a:lnTo>
                  <a:pt x="19277" y="238124"/>
                </a:lnTo>
                <a:lnTo>
                  <a:pt x="16442" y="237560"/>
                </a:lnTo>
                <a:lnTo>
                  <a:pt x="0" y="218846"/>
                </a:lnTo>
                <a:lnTo>
                  <a:pt x="0" y="215899"/>
                </a:lnTo>
                <a:lnTo>
                  <a:pt x="0" y="19277"/>
                </a:lnTo>
                <a:lnTo>
                  <a:pt x="19277" y="0"/>
                </a:lnTo>
                <a:lnTo>
                  <a:pt x="656997" y="0"/>
                </a:lnTo>
                <a:lnTo>
                  <a:pt x="676274" y="19277"/>
                </a:lnTo>
                <a:lnTo>
                  <a:pt x="676274" y="218846"/>
                </a:lnTo>
                <a:lnTo>
                  <a:pt x="659832" y="237560"/>
                </a:lnTo>
                <a:lnTo>
                  <a:pt x="656997" y="238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57200" y="1095375"/>
          <a:ext cx="6591300" cy="5074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4814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18465" algn="l"/>
                        </a:tabLst>
                      </a:pPr>
                      <a:r>
                        <a:rPr sz="1200" spc="-5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20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400" spc="-45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eventos/eventos.py</a:t>
                      </a:r>
                      <a:r>
                        <a:rPr sz="1400" spc="-35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7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—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define</a:t>
                      </a:r>
                      <a:r>
                        <a:rPr sz="1400" spc="-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los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4184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eventos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BusDeEventos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R w="9525">
                      <a:solidFill>
                        <a:srgbClr val="B9CCC6"/>
                      </a:solidFill>
                      <a:prstDash val="solid"/>
                    </a:lnR>
                    <a:lnB w="9525">
                      <a:solidFill>
                        <a:srgbClr val="B9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 marR="317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67055" algn="l"/>
                        </a:tabLst>
                      </a:pPr>
                      <a:r>
                        <a:rPr sz="1200" spc="-5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20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400" spc="-45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inventario/inventario.py</a:t>
                      </a:r>
                      <a:r>
                        <a:rPr sz="1400" spc="105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—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67055" marR="137795">
                        <a:lnSpc>
                          <a:spcPts val="2030"/>
                        </a:lnSpc>
                        <a:spcBef>
                          <a:spcPts val="45"/>
                        </a:spcBef>
                      </a:pPr>
                      <a:r>
                        <a:rPr sz="1400" spc="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mantiene</a:t>
                      </a:r>
                      <a:r>
                        <a:rPr sz="1400" spc="10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equipos</a:t>
                      </a:r>
                      <a:r>
                        <a:rPr sz="1400" spc="1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disponibles</a:t>
                      </a:r>
                      <a:r>
                        <a:rPr sz="1400" spc="10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 </a:t>
                      </a:r>
                      <a:r>
                        <a:rPr sz="1400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realiza</a:t>
                      </a:r>
                      <a:r>
                        <a:rPr sz="1400" spc="-6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reservas.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9525">
                      <a:solidFill>
                        <a:srgbClr val="B9CCC6"/>
                      </a:solidFill>
                      <a:prstDash val="solid"/>
                    </a:lnL>
                    <a:lnB w="9525">
                      <a:solidFill>
                        <a:srgbClr val="B9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289">
                <a:tc>
                  <a:txBody>
                    <a:bodyPr/>
                    <a:lstStyle/>
                    <a:p>
                      <a:pPr marL="418465" marR="243840" indent="-332105">
                        <a:lnSpc>
                          <a:spcPct val="118300"/>
                        </a:lnSpc>
                        <a:spcBef>
                          <a:spcPts val="765"/>
                        </a:spcBef>
                        <a:tabLst>
                          <a:tab pos="418465" algn="l"/>
                        </a:tabLst>
                      </a:pPr>
                      <a:r>
                        <a:rPr sz="1200" spc="-5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20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400" spc="-5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manejador/solicitud.py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7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—</a:t>
                      </a:r>
                      <a:r>
                        <a:rPr sz="1400" spc="1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valida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solicitudes,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decide</a:t>
                      </a:r>
                      <a:r>
                        <a:rPr sz="1400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400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publica eventos.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97155" marB="0">
                    <a:lnR w="9525">
                      <a:solidFill>
                        <a:srgbClr val="B9CCC6"/>
                      </a:solidFill>
                      <a:prstDash val="solid"/>
                    </a:lnR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7055" marR="145415" indent="-332105">
                        <a:lnSpc>
                          <a:spcPct val="118300"/>
                        </a:lnSpc>
                        <a:spcBef>
                          <a:spcPts val="765"/>
                        </a:spcBef>
                        <a:tabLst>
                          <a:tab pos="567055" algn="l"/>
                        </a:tabLst>
                      </a:pPr>
                      <a:r>
                        <a:rPr sz="1200" spc="-5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20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400" spc="-5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consumidores/notificador.py</a:t>
                      </a:r>
                      <a:r>
                        <a:rPr sz="1400" spc="14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—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400" spc="3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notificaciones</a:t>
                      </a:r>
                      <a:r>
                        <a:rPr sz="1400" spc="3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en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consola.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97155" marB="0">
                    <a:lnL w="9525">
                      <a:solidFill>
                        <a:srgbClr val="B9CCC6"/>
                      </a:solidFill>
                      <a:prstDash val="solid"/>
                    </a:lnL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4814">
                <a:tc>
                  <a:txBody>
                    <a:bodyPr/>
                    <a:lstStyle/>
                    <a:p>
                      <a:pPr marL="418465" marR="168275" indent="-332105">
                        <a:lnSpc>
                          <a:spcPct val="118300"/>
                        </a:lnSpc>
                        <a:spcBef>
                          <a:spcPts val="840"/>
                        </a:spcBef>
                        <a:tabLst>
                          <a:tab pos="418465" algn="l"/>
                        </a:tabLst>
                      </a:pPr>
                      <a:r>
                        <a:rPr sz="1200" spc="-5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20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400" spc="-45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consumidores/reporte.py</a:t>
                      </a:r>
                      <a:r>
                        <a:rPr sz="1400" spc="85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—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registra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presenta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las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solicitudes procesadas.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680" marB="0">
                    <a:lnR w="9525">
                      <a:solidFill>
                        <a:srgbClr val="B9CCC6"/>
                      </a:solidFill>
                      <a:prstDash val="solid"/>
                    </a:lnR>
                    <a:lnT w="9525">
                      <a:solidFill>
                        <a:srgbClr val="B9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67055" indent="-332105">
                        <a:lnSpc>
                          <a:spcPct val="116100"/>
                        </a:lnSpc>
                        <a:spcBef>
                          <a:spcPts val="880"/>
                        </a:spcBef>
                        <a:tabLst>
                          <a:tab pos="567055" algn="l"/>
                        </a:tabLst>
                      </a:pPr>
                      <a:r>
                        <a:rPr sz="1200" spc="-5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sz="1200" dirty="0">
                          <a:solidFill>
                            <a:srgbClr val="0A6F83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400" spc="-4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main.py</a:t>
                      </a:r>
                      <a:r>
                        <a:rPr sz="1400" spc="-30" dirty="0">
                          <a:solidFill>
                            <a:srgbClr val="203A4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7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—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configura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los</a:t>
                      </a:r>
                      <a:r>
                        <a:rPr sz="1400" spc="-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objetos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 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ejecuta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los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casos</a:t>
                      </a:r>
                      <a:r>
                        <a:rPr sz="1400" spc="5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aceptación.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B9CCC6"/>
                      </a:solidFill>
                      <a:prstDash val="solid"/>
                    </a:lnL>
                    <a:lnT w="9525">
                      <a:solidFill>
                        <a:srgbClr val="B9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3774" y="1095374"/>
            <a:ext cx="4391024" cy="507682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17" name="object 1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3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3"/>
              </a:rPr>
              <a:t>7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Contratos</a:t>
            </a:r>
            <a:r>
              <a:rPr spc="-140" dirty="0"/>
              <a:t> </a:t>
            </a:r>
            <a:r>
              <a:rPr spc="-35" dirty="0"/>
              <a:t>principales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199" y="1090612"/>
          <a:ext cx="11277600" cy="3611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8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59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Componente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2550" marB="0"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D3DAD8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Interfaz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2550" marB="0"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D3DAD8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Responsabilidad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2550" marB="0"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D3D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29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Bus</a:t>
                      </a:r>
                      <a:r>
                        <a:rPr sz="1400" b="1" spc="-6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400" b="1" spc="-6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eventos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E1E7E3"/>
                    </a:solidFill>
                  </a:tcPr>
                </a:tc>
                <a:tc>
                  <a:txBody>
                    <a:bodyPr/>
                    <a:lstStyle/>
                    <a:p>
                      <a:pPr marL="147320" marR="987425">
                        <a:lnSpc>
                          <a:spcPct val="1183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suscribir(tipo_evento, consumidor) publicar(evento)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085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E1E7E3"/>
                    </a:solidFill>
                  </a:tcPr>
                </a:tc>
                <a:tc>
                  <a:txBody>
                    <a:bodyPr/>
                    <a:lstStyle/>
                    <a:p>
                      <a:pPr marL="127635" marR="779145">
                        <a:lnSpc>
                          <a:spcPct val="120500"/>
                        </a:lnSpc>
                        <a:spcBef>
                          <a:spcPts val="315"/>
                        </a:spcBef>
                      </a:pP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Entrega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cada</a:t>
                      </a:r>
                      <a:r>
                        <a:rPr sz="1400" spc="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evento</a:t>
                      </a:r>
                      <a:r>
                        <a:rPr sz="1400" spc="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sus</a:t>
                      </a:r>
                      <a:r>
                        <a:rPr sz="1400" spc="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consumidores</a:t>
                      </a:r>
                      <a:r>
                        <a:rPr sz="1400" spc="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registrados;</a:t>
                      </a:r>
                      <a:r>
                        <a:rPr sz="1400" spc="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3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no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decide</a:t>
                      </a:r>
                      <a:r>
                        <a:rPr sz="1400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400" spc="-1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aprobación.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E1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Inventario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7320" marR="1637664">
                        <a:lnSpc>
                          <a:spcPct val="1183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disponible() reservar() obtener_estado()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085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635" marR="1017905">
                        <a:lnSpc>
                          <a:spcPct val="116100"/>
                        </a:lnSpc>
                        <a:spcBef>
                          <a:spcPts val="390"/>
                        </a:spcBef>
                      </a:pP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Consulta</a:t>
                      </a:r>
                      <a:r>
                        <a:rPr sz="1400" spc="4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descuenta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cantidades</a:t>
                      </a:r>
                      <a:r>
                        <a:rPr sz="1400" spc="4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válidas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400" spc="4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memoria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durante</a:t>
                      </a:r>
                      <a:r>
                        <a:rPr sz="1400" spc="-4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400" spc="-3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ejecución.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9530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11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Manejador</a:t>
                      </a:r>
                      <a:r>
                        <a:rPr sz="1400" b="1" spc="-6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400" b="1" spc="-6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solicitudes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E1E7E3"/>
                    </a:solidFill>
                  </a:tcPr>
                </a:tc>
                <a:tc>
                  <a:txBody>
                    <a:bodyPr/>
                    <a:lstStyle/>
                    <a:p>
                      <a:pPr marL="147320" marR="120014">
                        <a:lnSpc>
                          <a:spcPct val="120500"/>
                        </a:lnSpc>
                        <a:spcBef>
                          <a:spcPts val="315"/>
                        </a:spcBef>
                      </a:pPr>
                      <a:r>
                        <a:rPr sz="1400" spc="-10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procesar_solicitud(estudiante,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equipo,</a:t>
                      </a:r>
                      <a:r>
                        <a:rPr sz="1400" spc="85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cantidad)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0005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E1E7E3"/>
                    </a:solidFill>
                  </a:tcPr>
                </a:tc>
                <a:tc>
                  <a:txBody>
                    <a:bodyPr/>
                    <a:lstStyle/>
                    <a:p>
                      <a:pPr marL="127635" marR="1403350">
                        <a:lnSpc>
                          <a:spcPct val="120500"/>
                        </a:lnSpc>
                        <a:spcBef>
                          <a:spcPts val="315"/>
                        </a:spcBef>
                      </a:pP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Recibe,</a:t>
                      </a:r>
                      <a:r>
                        <a:rPr sz="1400" spc="-4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consulta,</a:t>
                      </a:r>
                      <a:r>
                        <a:rPr sz="1400" spc="-3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aprueba</a:t>
                      </a:r>
                      <a:r>
                        <a:rPr sz="1400" spc="-3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400" spc="-3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rechaza,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actualiza</a:t>
                      </a:r>
                      <a:r>
                        <a:rPr sz="1400" spc="-4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el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inventario</a:t>
                      </a:r>
                      <a:r>
                        <a:rPr sz="1400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400" spc="-1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publica</a:t>
                      </a:r>
                      <a:r>
                        <a:rPr sz="1400" spc="-1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sz="1400" spc="-2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evento.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E1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11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Consumidores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solidFill>
                            <a:srgbClr val="203A40"/>
                          </a:solidFill>
                          <a:latin typeface="Courier New"/>
                          <a:cs typeface="Courier New"/>
                        </a:rPr>
                        <a:t>manejar(evento)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83820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635" marR="792480">
                        <a:lnSpc>
                          <a:spcPct val="1205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Reaccionan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al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evento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sin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volver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decidir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ni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modificar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el </a:t>
                      </a:r>
                      <a:r>
                        <a:rPr sz="1400" spc="-10" dirty="0">
                          <a:solidFill>
                            <a:srgbClr val="203A40"/>
                          </a:solidFill>
                          <a:latin typeface="Trebuchet MS"/>
                          <a:cs typeface="Trebuchet MS"/>
                        </a:rPr>
                        <a:t>resultado.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T w="9525">
                      <a:solidFill>
                        <a:srgbClr val="B9CCC6"/>
                      </a:solidFill>
                      <a:prstDash val="solid"/>
                    </a:lnT>
                    <a:lnB w="9525">
                      <a:solidFill>
                        <a:srgbClr val="B9CC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57199" y="4810124"/>
            <a:ext cx="11277600" cy="1362075"/>
            <a:chOff x="457199" y="4810124"/>
            <a:chExt cx="11277600" cy="1362075"/>
          </a:xfrm>
        </p:grpSpPr>
        <p:sp>
          <p:nvSpPr>
            <p:cNvPr id="5" name="object 5"/>
            <p:cNvSpPr/>
            <p:nvPr/>
          </p:nvSpPr>
          <p:spPr>
            <a:xfrm>
              <a:off x="457199" y="4810124"/>
              <a:ext cx="11277600" cy="1362075"/>
            </a:xfrm>
            <a:custGeom>
              <a:avLst/>
              <a:gdLst/>
              <a:ahLst/>
              <a:cxnLst/>
              <a:rect l="l" t="t" r="r" b="b"/>
              <a:pathLst>
                <a:path w="11277600" h="1362075">
                  <a:moveTo>
                    <a:pt x="11277599" y="1362074"/>
                  </a:moveTo>
                  <a:lnTo>
                    <a:pt x="0" y="1362074"/>
                  </a:lnTo>
                  <a:lnTo>
                    <a:pt x="0" y="0"/>
                  </a:lnTo>
                  <a:lnTo>
                    <a:pt x="11277599" y="0"/>
                  </a:lnTo>
                  <a:lnTo>
                    <a:pt x="11277599" y="1362074"/>
                  </a:lnTo>
                  <a:close/>
                </a:path>
              </a:pathLst>
            </a:custGeom>
            <a:solidFill>
              <a:srgbClr val="F5DE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199" y="4810124"/>
              <a:ext cx="38100" cy="1362075"/>
            </a:xfrm>
            <a:custGeom>
              <a:avLst/>
              <a:gdLst/>
              <a:ahLst/>
              <a:cxnLst/>
              <a:rect l="l" t="t" r="r" b="b"/>
              <a:pathLst>
                <a:path w="38100" h="1362075">
                  <a:moveTo>
                    <a:pt x="38099" y="1362074"/>
                  </a:moveTo>
                  <a:lnTo>
                    <a:pt x="0" y="13620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62074"/>
                  </a:lnTo>
                  <a:close/>
                </a:path>
              </a:pathLst>
            </a:custGeom>
            <a:solidFill>
              <a:srgbClr val="A71D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5299" y="5013356"/>
            <a:ext cx="11239500" cy="90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165" indent="-329565">
              <a:lnSpc>
                <a:spcPct val="100000"/>
              </a:lnSpc>
              <a:spcBef>
                <a:spcPts val="100"/>
              </a:spcBef>
              <a:buSzPct val="156521"/>
              <a:buFont typeface="Lucida Sans Unicode"/>
              <a:buChar char="■"/>
              <a:tabLst>
                <a:tab pos="558165" algn="l"/>
              </a:tabLst>
            </a:pPr>
            <a:r>
              <a:rPr sz="1150" spc="45" dirty="0">
                <a:solidFill>
                  <a:srgbClr val="A71D18"/>
                </a:solidFill>
                <a:latin typeface="Courier New"/>
                <a:cs typeface="Courier New"/>
              </a:rPr>
              <a:t>RESTRICCIÓN</a:t>
            </a:r>
            <a:endParaRPr sz="1150">
              <a:latin typeface="Courier New"/>
              <a:cs typeface="Courier New"/>
            </a:endParaRPr>
          </a:p>
          <a:p>
            <a:pPr marL="558800" marR="986790">
              <a:lnSpc>
                <a:spcPct val="121100"/>
              </a:lnSpc>
              <a:spcBef>
                <a:spcPts val="915"/>
              </a:spcBef>
            </a:pPr>
            <a:r>
              <a:rPr sz="1600" dirty="0">
                <a:latin typeface="Trebuchet MS"/>
                <a:cs typeface="Trebuchet MS"/>
              </a:rPr>
              <a:t>Ningún</a:t>
            </a:r>
            <a:r>
              <a:rPr sz="1600" spc="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consumidor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puede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reservar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equipos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ni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revertir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una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decisión: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el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inventario</a:t>
            </a:r>
            <a:r>
              <a:rPr sz="1600" spc="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solo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cambia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dentro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del </a:t>
            </a:r>
            <a:r>
              <a:rPr sz="1600" spc="-10" dirty="0">
                <a:latin typeface="Trebuchet MS"/>
                <a:cs typeface="Trebuchet MS"/>
              </a:rPr>
              <a:t>manejador.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8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Los</a:t>
            </a:r>
            <a:r>
              <a:rPr spc="-200" dirty="0"/>
              <a:t> </a:t>
            </a:r>
            <a:r>
              <a:rPr spc="55" dirty="0"/>
              <a:t>dos</a:t>
            </a:r>
            <a:r>
              <a:rPr spc="-200" dirty="0"/>
              <a:t> </a:t>
            </a:r>
            <a:r>
              <a:rPr spc="-65" dirty="0"/>
              <a:t>eventos</a:t>
            </a:r>
            <a:r>
              <a:rPr spc="-195" dirty="0"/>
              <a:t> </a:t>
            </a:r>
            <a:r>
              <a:rPr spc="-40" dirty="0"/>
              <a:t>del</a:t>
            </a:r>
            <a:r>
              <a:rPr spc="-200" dirty="0"/>
              <a:t> </a:t>
            </a:r>
            <a:r>
              <a:rPr spc="-10" dirty="0"/>
              <a:t>sistema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199" y="1095374"/>
            <a:ext cx="5562600" cy="2686050"/>
            <a:chOff x="457199" y="1095374"/>
            <a:chExt cx="5562600" cy="2686050"/>
          </a:xfrm>
        </p:grpSpPr>
        <p:sp>
          <p:nvSpPr>
            <p:cNvPr id="4" name="object 4"/>
            <p:cNvSpPr/>
            <p:nvPr/>
          </p:nvSpPr>
          <p:spPr>
            <a:xfrm>
              <a:off x="457199" y="1095374"/>
              <a:ext cx="5562600" cy="2686050"/>
            </a:xfrm>
            <a:custGeom>
              <a:avLst/>
              <a:gdLst/>
              <a:ahLst/>
              <a:cxnLst/>
              <a:rect l="l" t="t" r="r" b="b"/>
              <a:pathLst>
                <a:path w="5562600" h="2686050">
                  <a:moveTo>
                    <a:pt x="5562599" y="2686049"/>
                  </a:moveTo>
                  <a:lnTo>
                    <a:pt x="0" y="2686049"/>
                  </a:lnTo>
                  <a:lnTo>
                    <a:pt x="0" y="0"/>
                  </a:lnTo>
                  <a:lnTo>
                    <a:pt x="5562599" y="0"/>
                  </a:lnTo>
                  <a:lnTo>
                    <a:pt x="5562599" y="2686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7712" y="1366837"/>
              <a:ext cx="1085850" cy="323850"/>
            </a:xfrm>
            <a:custGeom>
              <a:avLst/>
              <a:gdLst/>
              <a:ahLst/>
              <a:cxnLst/>
              <a:rect l="l" t="t" r="r" b="b"/>
              <a:pathLst>
                <a:path w="1085850" h="323850">
                  <a:moveTo>
                    <a:pt x="0" y="303212"/>
                  </a:moveTo>
                  <a:lnTo>
                    <a:pt x="0" y="20637"/>
                  </a:lnTo>
                  <a:lnTo>
                    <a:pt x="0" y="17900"/>
                  </a:lnTo>
                  <a:lnTo>
                    <a:pt x="523" y="15268"/>
                  </a:lnTo>
                  <a:lnTo>
                    <a:pt x="1570" y="12739"/>
                  </a:lnTo>
                  <a:lnTo>
                    <a:pt x="2618" y="10211"/>
                  </a:lnTo>
                  <a:lnTo>
                    <a:pt x="4109" y="7979"/>
                  </a:lnTo>
                  <a:lnTo>
                    <a:pt x="6044" y="6044"/>
                  </a:lnTo>
                  <a:lnTo>
                    <a:pt x="7979" y="4109"/>
                  </a:lnTo>
                  <a:lnTo>
                    <a:pt x="10211" y="2618"/>
                  </a:lnTo>
                  <a:lnTo>
                    <a:pt x="12739" y="1570"/>
                  </a:lnTo>
                  <a:lnTo>
                    <a:pt x="15268" y="523"/>
                  </a:lnTo>
                  <a:lnTo>
                    <a:pt x="17900" y="0"/>
                  </a:lnTo>
                  <a:lnTo>
                    <a:pt x="20637" y="0"/>
                  </a:lnTo>
                  <a:lnTo>
                    <a:pt x="1065212" y="0"/>
                  </a:lnTo>
                  <a:lnTo>
                    <a:pt x="1067949" y="0"/>
                  </a:lnTo>
                  <a:lnTo>
                    <a:pt x="1070581" y="523"/>
                  </a:lnTo>
                  <a:lnTo>
                    <a:pt x="1073109" y="1570"/>
                  </a:lnTo>
                  <a:lnTo>
                    <a:pt x="1075638" y="2618"/>
                  </a:lnTo>
                  <a:lnTo>
                    <a:pt x="1084278" y="12739"/>
                  </a:lnTo>
                  <a:lnTo>
                    <a:pt x="1085326" y="15268"/>
                  </a:lnTo>
                  <a:lnTo>
                    <a:pt x="1085849" y="17900"/>
                  </a:lnTo>
                  <a:lnTo>
                    <a:pt x="1085849" y="20637"/>
                  </a:lnTo>
                  <a:lnTo>
                    <a:pt x="1085849" y="303212"/>
                  </a:lnTo>
                  <a:lnTo>
                    <a:pt x="1085849" y="305949"/>
                  </a:lnTo>
                  <a:lnTo>
                    <a:pt x="1085326" y="308581"/>
                  </a:lnTo>
                  <a:lnTo>
                    <a:pt x="1084278" y="311109"/>
                  </a:lnTo>
                  <a:lnTo>
                    <a:pt x="1083231" y="313638"/>
                  </a:lnTo>
                  <a:lnTo>
                    <a:pt x="1065212" y="323849"/>
                  </a:lnTo>
                  <a:lnTo>
                    <a:pt x="20637" y="323849"/>
                  </a:lnTo>
                  <a:lnTo>
                    <a:pt x="0" y="305949"/>
                  </a:lnTo>
                  <a:lnTo>
                    <a:pt x="0" y="3032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7712" y="1366837"/>
              <a:ext cx="1085850" cy="323850"/>
            </a:xfrm>
            <a:custGeom>
              <a:avLst/>
              <a:gdLst/>
              <a:ahLst/>
              <a:cxnLst/>
              <a:rect l="l" t="t" r="r" b="b"/>
              <a:pathLst>
                <a:path w="1085850" h="323850">
                  <a:moveTo>
                    <a:pt x="0" y="303212"/>
                  </a:moveTo>
                  <a:lnTo>
                    <a:pt x="0" y="20637"/>
                  </a:lnTo>
                  <a:lnTo>
                    <a:pt x="0" y="17900"/>
                  </a:lnTo>
                  <a:lnTo>
                    <a:pt x="523" y="15268"/>
                  </a:lnTo>
                  <a:lnTo>
                    <a:pt x="1570" y="12739"/>
                  </a:lnTo>
                  <a:lnTo>
                    <a:pt x="2618" y="10211"/>
                  </a:lnTo>
                  <a:lnTo>
                    <a:pt x="4109" y="7979"/>
                  </a:lnTo>
                  <a:lnTo>
                    <a:pt x="6044" y="6044"/>
                  </a:lnTo>
                  <a:lnTo>
                    <a:pt x="7979" y="4109"/>
                  </a:lnTo>
                  <a:lnTo>
                    <a:pt x="10211" y="2618"/>
                  </a:lnTo>
                  <a:lnTo>
                    <a:pt x="12739" y="1570"/>
                  </a:lnTo>
                  <a:lnTo>
                    <a:pt x="15268" y="523"/>
                  </a:lnTo>
                  <a:lnTo>
                    <a:pt x="17900" y="0"/>
                  </a:lnTo>
                  <a:lnTo>
                    <a:pt x="20637" y="0"/>
                  </a:lnTo>
                  <a:lnTo>
                    <a:pt x="1065212" y="0"/>
                  </a:lnTo>
                  <a:lnTo>
                    <a:pt x="1067949" y="0"/>
                  </a:lnTo>
                  <a:lnTo>
                    <a:pt x="1070581" y="523"/>
                  </a:lnTo>
                  <a:lnTo>
                    <a:pt x="1073109" y="1570"/>
                  </a:lnTo>
                  <a:lnTo>
                    <a:pt x="1075638" y="2618"/>
                  </a:lnTo>
                  <a:lnTo>
                    <a:pt x="1084278" y="12739"/>
                  </a:lnTo>
                  <a:lnTo>
                    <a:pt x="1085326" y="15268"/>
                  </a:lnTo>
                  <a:lnTo>
                    <a:pt x="1085849" y="17900"/>
                  </a:lnTo>
                  <a:lnTo>
                    <a:pt x="1085849" y="20637"/>
                  </a:lnTo>
                  <a:lnTo>
                    <a:pt x="1085849" y="303212"/>
                  </a:lnTo>
                  <a:lnTo>
                    <a:pt x="1085849" y="305949"/>
                  </a:lnTo>
                  <a:lnTo>
                    <a:pt x="1085326" y="308581"/>
                  </a:lnTo>
                  <a:lnTo>
                    <a:pt x="1084278" y="311109"/>
                  </a:lnTo>
                  <a:lnTo>
                    <a:pt x="1083231" y="313638"/>
                  </a:lnTo>
                  <a:lnTo>
                    <a:pt x="1065212" y="323849"/>
                  </a:lnTo>
                  <a:lnTo>
                    <a:pt x="20637" y="323849"/>
                  </a:lnTo>
                  <a:lnTo>
                    <a:pt x="0" y="305949"/>
                  </a:lnTo>
                  <a:lnTo>
                    <a:pt x="0" y="303212"/>
                  </a:lnTo>
                  <a:close/>
                </a:path>
              </a:pathLst>
            </a:custGeom>
            <a:ln w="9524">
              <a:solidFill>
                <a:srgbClr val="203A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3424" y="1676399"/>
              <a:ext cx="2581275" cy="619125"/>
            </a:xfrm>
            <a:custGeom>
              <a:avLst/>
              <a:gdLst/>
              <a:ahLst/>
              <a:cxnLst/>
              <a:rect l="l" t="t" r="r" b="b"/>
              <a:pathLst>
                <a:path w="2581275" h="619125">
                  <a:moveTo>
                    <a:pt x="2550981" y="619124"/>
                  </a:moveTo>
                  <a:lnTo>
                    <a:pt x="30293" y="619124"/>
                  </a:lnTo>
                  <a:lnTo>
                    <a:pt x="25838" y="618238"/>
                  </a:lnTo>
                  <a:lnTo>
                    <a:pt x="0" y="588831"/>
                  </a:lnTo>
                  <a:lnTo>
                    <a:pt x="0" y="584199"/>
                  </a:lnTo>
                  <a:lnTo>
                    <a:pt x="0" y="30293"/>
                  </a:lnTo>
                  <a:lnTo>
                    <a:pt x="25838" y="886"/>
                  </a:lnTo>
                  <a:lnTo>
                    <a:pt x="30293" y="0"/>
                  </a:lnTo>
                  <a:lnTo>
                    <a:pt x="2550981" y="0"/>
                  </a:lnTo>
                  <a:lnTo>
                    <a:pt x="2580388" y="25838"/>
                  </a:lnTo>
                  <a:lnTo>
                    <a:pt x="2581274" y="30293"/>
                  </a:lnTo>
                  <a:lnTo>
                    <a:pt x="2581274" y="588831"/>
                  </a:lnTo>
                  <a:lnTo>
                    <a:pt x="2555436" y="618238"/>
                  </a:lnTo>
                  <a:lnTo>
                    <a:pt x="2550981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2949" y="3038474"/>
              <a:ext cx="1647825" cy="28575"/>
            </a:xfrm>
            <a:custGeom>
              <a:avLst/>
              <a:gdLst/>
              <a:ahLst/>
              <a:cxnLst/>
              <a:rect l="l" t="t" r="r" b="b"/>
              <a:pathLst>
                <a:path w="1647825" h="28575">
                  <a:moveTo>
                    <a:pt x="1635431" y="28574"/>
                  </a:moveTo>
                  <a:lnTo>
                    <a:pt x="12392" y="28574"/>
                  </a:lnTo>
                  <a:lnTo>
                    <a:pt x="10570" y="28212"/>
                  </a:lnTo>
                  <a:lnTo>
                    <a:pt x="0" y="16181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635431" y="0"/>
                  </a:lnTo>
                  <a:lnTo>
                    <a:pt x="1647824" y="12392"/>
                  </a:lnTo>
                  <a:lnTo>
                    <a:pt x="1647824" y="16181"/>
                  </a:lnTo>
                  <a:lnTo>
                    <a:pt x="1637254" y="28212"/>
                  </a:lnTo>
                  <a:lnTo>
                    <a:pt x="1635431" y="28574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1962" y="1100137"/>
            <a:ext cx="5553075" cy="2676525"/>
          </a:xfrm>
          <a:prstGeom prst="rect">
            <a:avLst/>
          </a:prstGeom>
          <a:ln w="9524">
            <a:solidFill>
              <a:srgbClr val="B9CCC6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1250">
              <a:latin typeface="Times New Roman"/>
              <a:cs typeface="Times New Roman"/>
            </a:endParaRPr>
          </a:p>
          <a:p>
            <a:pPr marL="415290">
              <a:lnSpc>
                <a:spcPct val="100000"/>
              </a:lnSpc>
            </a:pPr>
            <a:r>
              <a:rPr sz="1250" spc="55" dirty="0">
                <a:solidFill>
                  <a:srgbClr val="0A6F83"/>
                </a:solidFill>
                <a:latin typeface="Courier New"/>
                <a:cs typeface="Courier New"/>
              </a:rPr>
              <a:t>Evento</a:t>
            </a:r>
            <a:r>
              <a:rPr sz="1250" spc="125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250" spc="-50" dirty="0">
                <a:solidFill>
                  <a:srgbClr val="0A6F83"/>
                </a:solidFill>
                <a:latin typeface="Courier New"/>
                <a:cs typeface="Courier New"/>
              </a:rPr>
              <a:t>1</a:t>
            </a:r>
            <a:endParaRPr sz="125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spcBef>
                <a:spcPts val="1225"/>
              </a:spcBef>
            </a:pPr>
            <a:r>
              <a:rPr sz="2350" b="1" spc="-55" dirty="0">
                <a:solidFill>
                  <a:srgbClr val="203A40"/>
                </a:solidFill>
                <a:latin typeface="Arial"/>
                <a:cs typeface="Arial"/>
              </a:rPr>
              <a:t>PrestamoAprobado</a:t>
            </a:r>
            <a:endParaRPr sz="2350">
              <a:latin typeface="Arial"/>
              <a:cs typeface="Arial"/>
            </a:endParaRPr>
          </a:p>
          <a:p>
            <a:pPr marL="283845" marR="412115">
              <a:lnSpc>
                <a:spcPct val="120500"/>
              </a:lnSpc>
              <a:spcBef>
                <a:spcPts val="1385"/>
              </a:spcBef>
            </a:pP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4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publica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50" dirty="0">
                <a:solidFill>
                  <a:srgbClr val="203A40"/>
                </a:solidFill>
                <a:latin typeface="Trebuchet MS"/>
                <a:cs typeface="Trebuchet MS"/>
              </a:rPr>
              <a:t>solo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cuando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hay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disponibilidad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03A40"/>
                </a:solidFill>
                <a:latin typeface="Trebuchet MS"/>
                <a:cs typeface="Trebuchet MS"/>
              </a:rPr>
              <a:t>ya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fue</a:t>
            </a:r>
            <a:r>
              <a:rPr sz="1400" spc="-7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actualizado.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400">
              <a:latin typeface="Trebuchet MS"/>
              <a:cs typeface="Trebuchet MS"/>
            </a:endParaRPr>
          </a:p>
          <a:p>
            <a:pPr marL="28384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estudiante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·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equipo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·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Courier New"/>
                <a:cs typeface="Courier New"/>
              </a:rPr>
              <a:t>cantidad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2199" y="1095374"/>
            <a:ext cx="5562600" cy="2686050"/>
            <a:chOff x="6172199" y="1095374"/>
            <a:chExt cx="5562600" cy="2686050"/>
          </a:xfrm>
        </p:grpSpPr>
        <p:sp>
          <p:nvSpPr>
            <p:cNvPr id="11" name="object 11"/>
            <p:cNvSpPr/>
            <p:nvPr/>
          </p:nvSpPr>
          <p:spPr>
            <a:xfrm>
              <a:off x="6172199" y="1095374"/>
              <a:ext cx="5562600" cy="2686050"/>
            </a:xfrm>
            <a:custGeom>
              <a:avLst/>
              <a:gdLst/>
              <a:ahLst/>
              <a:cxnLst/>
              <a:rect l="l" t="t" r="r" b="b"/>
              <a:pathLst>
                <a:path w="5562600" h="2686050">
                  <a:moveTo>
                    <a:pt x="5562599" y="2686049"/>
                  </a:moveTo>
                  <a:lnTo>
                    <a:pt x="0" y="2686049"/>
                  </a:lnTo>
                  <a:lnTo>
                    <a:pt x="0" y="0"/>
                  </a:lnTo>
                  <a:lnTo>
                    <a:pt x="5562599" y="0"/>
                  </a:lnTo>
                  <a:lnTo>
                    <a:pt x="5562599" y="2686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62711" y="1366837"/>
              <a:ext cx="1085850" cy="323850"/>
            </a:xfrm>
            <a:custGeom>
              <a:avLst/>
              <a:gdLst/>
              <a:ahLst/>
              <a:cxnLst/>
              <a:rect l="l" t="t" r="r" b="b"/>
              <a:pathLst>
                <a:path w="1085850" h="323850">
                  <a:moveTo>
                    <a:pt x="0" y="303212"/>
                  </a:moveTo>
                  <a:lnTo>
                    <a:pt x="0" y="20637"/>
                  </a:lnTo>
                  <a:lnTo>
                    <a:pt x="0" y="17900"/>
                  </a:lnTo>
                  <a:lnTo>
                    <a:pt x="523" y="15268"/>
                  </a:lnTo>
                  <a:lnTo>
                    <a:pt x="1570" y="12739"/>
                  </a:lnTo>
                  <a:lnTo>
                    <a:pt x="2617" y="10211"/>
                  </a:lnTo>
                  <a:lnTo>
                    <a:pt x="4109" y="7979"/>
                  </a:lnTo>
                  <a:lnTo>
                    <a:pt x="6044" y="6044"/>
                  </a:lnTo>
                  <a:lnTo>
                    <a:pt x="7979" y="4109"/>
                  </a:lnTo>
                  <a:lnTo>
                    <a:pt x="10211" y="2618"/>
                  </a:lnTo>
                  <a:lnTo>
                    <a:pt x="12739" y="1570"/>
                  </a:lnTo>
                  <a:lnTo>
                    <a:pt x="15268" y="523"/>
                  </a:lnTo>
                  <a:lnTo>
                    <a:pt x="17901" y="0"/>
                  </a:lnTo>
                  <a:lnTo>
                    <a:pt x="20638" y="0"/>
                  </a:lnTo>
                  <a:lnTo>
                    <a:pt x="1065212" y="0"/>
                  </a:lnTo>
                  <a:lnTo>
                    <a:pt x="1067949" y="0"/>
                  </a:lnTo>
                  <a:lnTo>
                    <a:pt x="1070581" y="523"/>
                  </a:lnTo>
                  <a:lnTo>
                    <a:pt x="1073109" y="1570"/>
                  </a:lnTo>
                  <a:lnTo>
                    <a:pt x="1075638" y="2618"/>
                  </a:lnTo>
                  <a:lnTo>
                    <a:pt x="1084278" y="12739"/>
                  </a:lnTo>
                  <a:lnTo>
                    <a:pt x="1085326" y="15268"/>
                  </a:lnTo>
                  <a:lnTo>
                    <a:pt x="1085849" y="17900"/>
                  </a:lnTo>
                  <a:lnTo>
                    <a:pt x="1085850" y="20637"/>
                  </a:lnTo>
                  <a:lnTo>
                    <a:pt x="1085850" y="303212"/>
                  </a:lnTo>
                  <a:lnTo>
                    <a:pt x="1085849" y="305949"/>
                  </a:lnTo>
                  <a:lnTo>
                    <a:pt x="1085326" y="308581"/>
                  </a:lnTo>
                  <a:lnTo>
                    <a:pt x="1084278" y="311109"/>
                  </a:lnTo>
                  <a:lnTo>
                    <a:pt x="1083230" y="313638"/>
                  </a:lnTo>
                  <a:lnTo>
                    <a:pt x="1065212" y="323849"/>
                  </a:lnTo>
                  <a:lnTo>
                    <a:pt x="20638" y="323849"/>
                  </a:lnTo>
                  <a:lnTo>
                    <a:pt x="1570" y="311109"/>
                  </a:lnTo>
                  <a:lnTo>
                    <a:pt x="523" y="308581"/>
                  </a:lnTo>
                  <a:lnTo>
                    <a:pt x="0" y="305949"/>
                  </a:lnTo>
                  <a:lnTo>
                    <a:pt x="0" y="3032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62711" y="1366837"/>
              <a:ext cx="1085850" cy="323850"/>
            </a:xfrm>
            <a:custGeom>
              <a:avLst/>
              <a:gdLst/>
              <a:ahLst/>
              <a:cxnLst/>
              <a:rect l="l" t="t" r="r" b="b"/>
              <a:pathLst>
                <a:path w="1085850" h="323850">
                  <a:moveTo>
                    <a:pt x="0" y="303212"/>
                  </a:moveTo>
                  <a:lnTo>
                    <a:pt x="0" y="20637"/>
                  </a:lnTo>
                  <a:lnTo>
                    <a:pt x="0" y="17900"/>
                  </a:lnTo>
                  <a:lnTo>
                    <a:pt x="523" y="15268"/>
                  </a:lnTo>
                  <a:lnTo>
                    <a:pt x="1570" y="12739"/>
                  </a:lnTo>
                  <a:lnTo>
                    <a:pt x="2617" y="10211"/>
                  </a:lnTo>
                  <a:lnTo>
                    <a:pt x="4109" y="7979"/>
                  </a:lnTo>
                  <a:lnTo>
                    <a:pt x="6044" y="6044"/>
                  </a:lnTo>
                  <a:lnTo>
                    <a:pt x="7979" y="4109"/>
                  </a:lnTo>
                  <a:lnTo>
                    <a:pt x="10211" y="2618"/>
                  </a:lnTo>
                  <a:lnTo>
                    <a:pt x="12739" y="1570"/>
                  </a:lnTo>
                  <a:lnTo>
                    <a:pt x="15268" y="523"/>
                  </a:lnTo>
                  <a:lnTo>
                    <a:pt x="17901" y="0"/>
                  </a:lnTo>
                  <a:lnTo>
                    <a:pt x="20638" y="0"/>
                  </a:lnTo>
                  <a:lnTo>
                    <a:pt x="1065212" y="0"/>
                  </a:lnTo>
                  <a:lnTo>
                    <a:pt x="1067949" y="0"/>
                  </a:lnTo>
                  <a:lnTo>
                    <a:pt x="1070581" y="523"/>
                  </a:lnTo>
                  <a:lnTo>
                    <a:pt x="1073109" y="1570"/>
                  </a:lnTo>
                  <a:lnTo>
                    <a:pt x="1075638" y="2618"/>
                  </a:lnTo>
                  <a:lnTo>
                    <a:pt x="1084278" y="12739"/>
                  </a:lnTo>
                  <a:lnTo>
                    <a:pt x="1085326" y="15268"/>
                  </a:lnTo>
                  <a:lnTo>
                    <a:pt x="1085849" y="17900"/>
                  </a:lnTo>
                  <a:lnTo>
                    <a:pt x="1085850" y="20637"/>
                  </a:lnTo>
                  <a:lnTo>
                    <a:pt x="1085850" y="303212"/>
                  </a:lnTo>
                  <a:lnTo>
                    <a:pt x="1085849" y="305949"/>
                  </a:lnTo>
                  <a:lnTo>
                    <a:pt x="1085326" y="308581"/>
                  </a:lnTo>
                  <a:lnTo>
                    <a:pt x="1084278" y="311109"/>
                  </a:lnTo>
                  <a:lnTo>
                    <a:pt x="1083230" y="313638"/>
                  </a:lnTo>
                  <a:lnTo>
                    <a:pt x="1065212" y="323849"/>
                  </a:lnTo>
                  <a:lnTo>
                    <a:pt x="20638" y="323849"/>
                  </a:lnTo>
                  <a:lnTo>
                    <a:pt x="1570" y="311109"/>
                  </a:lnTo>
                  <a:lnTo>
                    <a:pt x="523" y="308581"/>
                  </a:lnTo>
                  <a:lnTo>
                    <a:pt x="0" y="305949"/>
                  </a:lnTo>
                  <a:lnTo>
                    <a:pt x="0" y="303212"/>
                  </a:lnTo>
                  <a:close/>
                </a:path>
              </a:pathLst>
            </a:custGeom>
            <a:ln w="9524">
              <a:solidFill>
                <a:srgbClr val="203A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8424" y="1676399"/>
              <a:ext cx="2705100" cy="619125"/>
            </a:xfrm>
            <a:custGeom>
              <a:avLst/>
              <a:gdLst/>
              <a:ahLst/>
              <a:cxnLst/>
              <a:rect l="l" t="t" r="r" b="b"/>
              <a:pathLst>
                <a:path w="2705100" h="619125">
                  <a:moveTo>
                    <a:pt x="2674805" y="619124"/>
                  </a:moveTo>
                  <a:lnTo>
                    <a:pt x="30294" y="619124"/>
                  </a:lnTo>
                  <a:lnTo>
                    <a:pt x="25838" y="618238"/>
                  </a:lnTo>
                  <a:lnTo>
                    <a:pt x="0" y="588831"/>
                  </a:lnTo>
                  <a:lnTo>
                    <a:pt x="0" y="584199"/>
                  </a:lnTo>
                  <a:lnTo>
                    <a:pt x="0" y="30293"/>
                  </a:lnTo>
                  <a:lnTo>
                    <a:pt x="25838" y="886"/>
                  </a:lnTo>
                  <a:lnTo>
                    <a:pt x="30294" y="0"/>
                  </a:lnTo>
                  <a:lnTo>
                    <a:pt x="2674805" y="0"/>
                  </a:lnTo>
                  <a:lnTo>
                    <a:pt x="2704213" y="25838"/>
                  </a:lnTo>
                  <a:lnTo>
                    <a:pt x="2705099" y="30293"/>
                  </a:lnTo>
                  <a:lnTo>
                    <a:pt x="2705099" y="588831"/>
                  </a:lnTo>
                  <a:lnTo>
                    <a:pt x="2679260" y="618238"/>
                  </a:lnTo>
                  <a:lnTo>
                    <a:pt x="2674805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57949" y="3038474"/>
              <a:ext cx="1647825" cy="28575"/>
            </a:xfrm>
            <a:custGeom>
              <a:avLst/>
              <a:gdLst/>
              <a:ahLst/>
              <a:cxnLst/>
              <a:rect l="l" t="t" r="r" b="b"/>
              <a:pathLst>
                <a:path w="1647825" h="28575">
                  <a:moveTo>
                    <a:pt x="1635431" y="28574"/>
                  </a:moveTo>
                  <a:lnTo>
                    <a:pt x="12392" y="28574"/>
                  </a:lnTo>
                  <a:lnTo>
                    <a:pt x="10570" y="28212"/>
                  </a:lnTo>
                  <a:lnTo>
                    <a:pt x="0" y="16181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635431" y="0"/>
                  </a:lnTo>
                  <a:lnTo>
                    <a:pt x="1647824" y="12392"/>
                  </a:lnTo>
                  <a:lnTo>
                    <a:pt x="1647824" y="16181"/>
                  </a:lnTo>
                  <a:lnTo>
                    <a:pt x="1637253" y="28212"/>
                  </a:lnTo>
                  <a:lnTo>
                    <a:pt x="1635431" y="28574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6962" y="1100137"/>
            <a:ext cx="5553075" cy="2676525"/>
          </a:xfrm>
          <a:prstGeom prst="rect">
            <a:avLst/>
          </a:prstGeom>
          <a:ln w="9524">
            <a:solidFill>
              <a:srgbClr val="B9CCC6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1250">
              <a:latin typeface="Times New Roman"/>
              <a:cs typeface="Times New Roman"/>
            </a:endParaRPr>
          </a:p>
          <a:p>
            <a:pPr marL="415290">
              <a:lnSpc>
                <a:spcPct val="100000"/>
              </a:lnSpc>
            </a:pPr>
            <a:r>
              <a:rPr sz="1250" spc="55" dirty="0">
                <a:solidFill>
                  <a:srgbClr val="0A6F83"/>
                </a:solidFill>
                <a:latin typeface="Courier New"/>
                <a:cs typeface="Courier New"/>
              </a:rPr>
              <a:t>Evento</a:t>
            </a:r>
            <a:r>
              <a:rPr sz="1250" spc="125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250" spc="-50" dirty="0">
                <a:solidFill>
                  <a:srgbClr val="0A6F83"/>
                </a:solidFill>
                <a:latin typeface="Courier New"/>
                <a:cs typeface="Courier New"/>
              </a:rPr>
              <a:t>2</a:t>
            </a:r>
            <a:endParaRPr sz="125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spcBef>
                <a:spcPts val="1225"/>
              </a:spcBef>
            </a:pPr>
            <a:r>
              <a:rPr sz="2350" b="1" spc="-75" dirty="0">
                <a:solidFill>
                  <a:srgbClr val="203A40"/>
                </a:solidFill>
                <a:latin typeface="Arial"/>
                <a:cs typeface="Arial"/>
              </a:rPr>
              <a:t>PrestamoRechazado</a:t>
            </a:r>
            <a:endParaRPr sz="2350">
              <a:latin typeface="Arial"/>
              <a:cs typeface="Arial"/>
            </a:endParaRPr>
          </a:p>
          <a:p>
            <a:pPr marL="283845" marR="982344">
              <a:lnSpc>
                <a:spcPct val="120500"/>
              </a:lnSpc>
              <a:spcBef>
                <a:spcPts val="1385"/>
              </a:spcBef>
            </a:pP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4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publica</a:t>
            </a:r>
            <a:r>
              <a:rPr sz="14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cuando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203A40"/>
                </a:solidFill>
                <a:latin typeface="Trebuchet MS"/>
                <a:cs typeface="Trebuchet MS"/>
              </a:rPr>
              <a:t>no</a:t>
            </a:r>
            <a:r>
              <a:rPr sz="14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existe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la</a:t>
            </a:r>
            <a:r>
              <a:rPr sz="14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cantidad</a:t>
            </a:r>
            <a:r>
              <a:rPr sz="1400" spc="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solicitada;</a:t>
            </a:r>
            <a:r>
              <a:rPr sz="1400" spc="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03A40"/>
                </a:solidFill>
                <a:latin typeface="Trebuchet MS"/>
                <a:cs typeface="Trebuchet MS"/>
              </a:rPr>
              <a:t>el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203A40"/>
                </a:solidFill>
                <a:latin typeface="Trebuchet MS"/>
                <a:cs typeface="Trebuchet MS"/>
              </a:rPr>
              <a:t>no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400" spc="-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Trebuchet MS"/>
                <a:cs typeface="Trebuchet MS"/>
              </a:rPr>
              <a:t>modifica.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400">
              <a:latin typeface="Trebuchet MS"/>
              <a:cs typeface="Trebuchet MS"/>
            </a:endParaRPr>
          </a:p>
          <a:p>
            <a:pPr marL="28384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estudiante</a:t>
            </a:r>
            <a:r>
              <a:rPr sz="1400" spc="5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·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equipo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·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cantidad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03A40"/>
                </a:solidFill>
                <a:latin typeface="Courier New"/>
                <a:cs typeface="Courier New"/>
              </a:rPr>
              <a:t>·</a:t>
            </a:r>
            <a:r>
              <a:rPr sz="1400" spc="60" dirty="0">
                <a:solidFill>
                  <a:srgbClr val="203A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203A40"/>
                </a:solidFill>
                <a:latin typeface="Courier New"/>
                <a:cs typeface="Courier New"/>
              </a:rPr>
              <a:t>motivo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00" y="5533383"/>
            <a:ext cx="1018730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10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Ambos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eventos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llegan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Notificador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Reporte: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mismo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canal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transporta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la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aprobación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rechazo,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-1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cada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consumidor</a:t>
            </a:r>
            <a:r>
              <a:rPr sz="1600" spc="10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decide</a:t>
            </a:r>
            <a:r>
              <a:rPr sz="1600" spc="10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cómo</a:t>
            </a:r>
            <a:r>
              <a:rPr sz="1600" spc="10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mostrarlos.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18" name="object 1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546333" y="6533764"/>
            <a:ext cx="3117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0</a:t>
            </a:r>
            <a:fld id="{81D60167-4931-47E6-BA6A-407CBD079E47}" type="slidenum"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9</a:t>
            </a:fld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Flujo</a:t>
            </a:r>
            <a:r>
              <a:rPr spc="-175" dirty="0"/>
              <a:t> </a:t>
            </a:r>
            <a:r>
              <a:rPr spc="-70" dirty="0"/>
              <a:t>aprobado:</a:t>
            </a:r>
            <a:r>
              <a:rPr spc="-170" dirty="0"/>
              <a:t> </a:t>
            </a:r>
            <a:r>
              <a:rPr spc="-75" dirty="0"/>
              <a:t>Ana</a:t>
            </a:r>
            <a:r>
              <a:rPr spc="-170" dirty="0"/>
              <a:t> </a:t>
            </a:r>
            <a:r>
              <a:rPr spc="-45" dirty="0"/>
              <a:t>solicita</a:t>
            </a:r>
            <a:r>
              <a:rPr spc="-170" dirty="0"/>
              <a:t> </a:t>
            </a:r>
            <a:r>
              <a:rPr spc="-65" dirty="0"/>
              <a:t>un</a:t>
            </a:r>
            <a:r>
              <a:rPr spc="-170" dirty="0"/>
              <a:t> </a:t>
            </a:r>
            <a:r>
              <a:rPr spc="-10" dirty="0"/>
              <a:t>portátil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63488" y="1431956"/>
            <a:ext cx="2177415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03A40"/>
                </a:solidFill>
                <a:latin typeface="Trebuchet MS"/>
                <a:cs typeface="Trebuchet MS"/>
              </a:rPr>
              <a:t>Solicitud</a:t>
            </a:r>
            <a:endParaRPr sz="1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Ana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solicita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un</a:t>
            </a:r>
            <a:r>
              <a:rPr sz="1600" spc="-3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portátil.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4739" y="1431956"/>
            <a:ext cx="2702560" cy="100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03A40"/>
                </a:solidFill>
                <a:latin typeface="Trebuchet MS"/>
                <a:cs typeface="Trebuchet MS"/>
              </a:rPr>
              <a:t>Decisión</a:t>
            </a:r>
            <a:endParaRPr sz="1900">
              <a:latin typeface="Trebuchet MS"/>
              <a:cs typeface="Trebuchet MS"/>
            </a:endParaRPr>
          </a:p>
          <a:p>
            <a:pPr marL="12065" marR="5080" algn="ctr">
              <a:lnSpc>
                <a:spcPct val="121100"/>
              </a:lnSpc>
              <a:spcBef>
                <a:spcPts val="765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préstamo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es</a:t>
            </a:r>
            <a:r>
              <a:rPr sz="1600" spc="2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aprobado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y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el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inventario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pasa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203A40"/>
                </a:solidFill>
                <a:latin typeface="Trebuchet MS"/>
                <a:cs typeface="Trebuchet MS"/>
              </a:rPr>
              <a:t>2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1.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34486" y="1431956"/>
            <a:ext cx="3010535" cy="100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03A40"/>
                </a:solidFill>
                <a:latin typeface="Trebuchet MS"/>
                <a:cs typeface="Trebuchet MS"/>
              </a:rPr>
              <a:t>Reacción</a:t>
            </a:r>
            <a:endParaRPr sz="1900">
              <a:latin typeface="Trebuchet MS"/>
              <a:cs typeface="Trebuchet MS"/>
            </a:endParaRPr>
          </a:p>
          <a:p>
            <a:pPr marL="12700" marR="5080" algn="ctr">
              <a:lnSpc>
                <a:spcPct val="121100"/>
              </a:lnSpc>
              <a:spcBef>
                <a:spcPts val="765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03A40"/>
                </a:solidFill>
                <a:latin typeface="Trebuchet MS"/>
                <a:cs typeface="Trebuchet MS"/>
              </a:rPr>
              <a:t>bus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lo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entrega</a:t>
            </a:r>
            <a:r>
              <a:rPr sz="1600" spc="-4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notificador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y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al</a:t>
            </a:r>
            <a:r>
              <a:rPr sz="1600" spc="-6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reporte.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199" y="2657474"/>
            <a:ext cx="11277600" cy="838200"/>
            <a:chOff x="457199" y="2657474"/>
            <a:chExt cx="11277600" cy="838200"/>
          </a:xfrm>
        </p:grpSpPr>
        <p:sp>
          <p:nvSpPr>
            <p:cNvPr id="4" name="object 4"/>
            <p:cNvSpPr/>
            <p:nvPr/>
          </p:nvSpPr>
          <p:spPr>
            <a:xfrm>
              <a:off x="457187" y="2657474"/>
              <a:ext cx="11277600" cy="638175"/>
            </a:xfrm>
            <a:custGeom>
              <a:avLst/>
              <a:gdLst/>
              <a:ahLst/>
              <a:cxnLst/>
              <a:rect l="l" t="t" r="r" b="b"/>
              <a:pathLst>
                <a:path w="11277600" h="638175">
                  <a:moveTo>
                    <a:pt x="1566862" y="609600"/>
                  </a:moveTo>
                  <a:lnTo>
                    <a:pt x="0" y="609600"/>
                  </a:lnTo>
                  <a:lnTo>
                    <a:pt x="0" y="638175"/>
                  </a:lnTo>
                  <a:lnTo>
                    <a:pt x="1566862" y="638175"/>
                  </a:lnTo>
                  <a:lnTo>
                    <a:pt x="1566862" y="609600"/>
                  </a:lnTo>
                  <a:close/>
                </a:path>
                <a:path w="11277600" h="638175">
                  <a:moveTo>
                    <a:pt x="1804987" y="0"/>
                  </a:moveTo>
                  <a:lnTo>
                    <a:pt x="1776412" y="0"/>
                  </a:lnTo>
                  <a:lnTo>
                    <a:pt x="1776412" y="385762"/>
                  </a:lnTo>
                  <a:lnTo>
                    <a:pt x="1804987" y="385762"/>
                  </a:lnTo>
                  <a:lnTo>
                    <a:pt x="1804987" y="0"/>
                  </a:lnTo>
                  <a:close/>
                </a:path>
                <a:path w="11277600" h="638175">
                  <a:moveTo>
                    <a:pt x="3490912" y="609600"/>
                  </a:moveTo>
                  <a:lnTo>
                    <a:pt x="2014537" y="609600"/>
                  </a:lnTo>
                  <a:lnTo>
                    <a:pt x="2014537" y="638175"/>
                  </a:lnTo>
                  <a:lnTo>
                    <a:pt x="3490912" y="638175"/>
                  </a:lnTo>
                  <a:lnTo>
                    <a:pt x="3490912" y="609600"/>
                  </a:lnTo>
                  <a:close/>
                </a:path>
                <a:path w="11277600" h="638175">
                  <a:moveTo>
                    <a:pt x="5414962" y="609600"/>
                  </a:moveTo>
                  <a:lnTo>
                    <a:pt x="3938587" y="609600"/>
                  </a:lnTo>
                  <a:lnTo>
                    <a:pt x="3938587" y="638175"/>
                  </a:lnTo>
                  <a:lnTo>
                    <a:pt x="5414962" y="638175"/>
                  </a:lnTo>
                  <a:lnTo>
                    <a:pt x="5414962" y="609600"/>
                  </a:lnTo>
                  <a:close/>
                </a:path>
                <a:path w="11277600" h="638175">
                  <a:moveTo>
                    <a:pt x="7339012" y="609600"/>
                  </a:moveTo>
                  <a:lnTo>
                    <a:pt x="5862637" y="609600"/>
                  </a:lnTo>
                  <a:lnTo>
                    <a:pt x="5862637" y="638175"/>
                  </a:lnTo>
                  <a:lnTo>
                    <a:pt x="7339012" y="638175"/>
                  </a:lnTo>
                  <a:lnTo>
                    <a:pt x="7339012" y="609600"/>
                  </a:lnTo>
                  <a:close/>
                </a:path>
                <a:path w="11277600" h="638175">
                  <a:moveTo>
                    <a:pt x="9263062" y="609600"/>
                  </a:moveTo>
                  <a:lnTo>
                    <a:pt x="7786687" y="609600"/>
                  </a:lnTo>
                  <a:lnTo>
                    <a:pt x="7786687" y="638175"/>
                  </a:lnTo>
                  <a:lnTo>
                    <a:pt x="9263062" y="638175"/>
                  </a:lnTo>
                  <a:lnTo>
                    <a:pt x="9263062" y="609600"/>
                  </a:lnTo>
                  <a:close/>
                </a:path>
                <a:path w="11277600" h="638175">
                  <a:moveTo>
                    <a:pt x="11277600" y="609600"/>
                  </a:moveTo>
                  <a:lnTo>
                    <a:pt x="9710737" y="609600"/>
                  </a:lnTo>
                  <a:lnTo>
                    <a:pt x="9710737" y="638175"/>
                  </a:lnTo>
                  <a:lnTo>
                    <a:pt x="11277600" y="638175"/>
                  </a:lnTo>
                  <a:lnTo>
                    <a:pt x="11277600" y="609600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406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4227" y="447674"/>
                  </a:moveTo>
                  <a:lnTo>
                    <a:pt x="3447" y="447674"/>
                  </a:lnTo>
                  <a:lnTo>
                    <a:pt x="2324" y="447209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5350" y="447209"/>
                  </a:lnTo>
                  <a:lnTo>
                    <a:pt x="444227" y="447674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2406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442912"/>
                  </a:moveTo>
                  <a:lnTo>
                    <a:pt x="0" y="476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1394" y="139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762" y="0"/>
                  </a:lnTo>
                  <a:lnTo>
                    <a:pt x="442912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6280" y="139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762"/>
                  </a:lnTo>
                  <a:lnTo>
                    <a:pt x="447674" y="442912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6280" y="446280"/>
                  </a:lnTo>
                  <a:lnTo>
                    <a:pt x="445350" y="447209"/>
                  </a:lnTo>
                  <a:lnTo>
                    <a:pt x="444227" y="447674"/>
                  </a:lnTo>
                  <a:lnTo>
                    <a:pt x="442912" y="447674"/>
                  </a:lnTo>
                  <a:lnTo>
                    <a:pt x="4762" y="447674"/>
                  </a:lnTo>
                  <a:lnTo>
                    <a:pt x="3447" y="447674"/>
                  </a:lnTo>
                  <a:lnTo>
                    <a:pt x="2324" y="447209"/>
                  </a:lnTo>
                  <a:lnTo>
                    <a:pt x="1394" y="446280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55428" y="3051745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43350" y="3038474"/>
            <a:ext cx="457200" cy="838200"/>
            <a:chOff x="3943350" y="3038474"/>
            <a:chExt cx="457200" cy="838200"/>
          </a:xfrm>
        </p:grpSpPr>
        <p:sp>
          <p:nvSpPr>
            <p:cNvPr id="10" name="object 10"/>
            <p:cNvSpPr/>
            <p:nvPr/>
          </p:nvSpPr>
          <p:spPr>
            <a:xfrm>
              <a:off x="4157662" y="3490912"/>
              <a:ext cx="28575" cy="386080"/>
            </a:xfrm>
            <a:custGeom>
              <a:avLst/>
              <a:gdLst/>
              <a:ahLst/>
              <a:cxnLst/>
              <a:rect l="l" t="t" r="r" b="b"/>
              <a:pathLst>
                <a:path w="28575" h="386079">
                  <a:moveTo>
                    <a:pt x="0" y="385762"/>
                  </a:moveTo>
                  <a:lnTo>
                    <a:pt x="28574" y="385762"/>
                  </a:lnTo>
                  <a:lnTo>
                    <a:pt x="28574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4811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4227" y="447674"/>
                  </a:moveTo>
                  <a:lnTo>
                    <a:pt x="3447" y="447674"/>
                  </a:lnTo>
                  <a:lnTo>
                    <a:pt x="2324" y="447209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5350" y="447209"/>
                  </a:lnTo>
                  <a:lnTo>
                    <a:pt x="444227" y="447674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4811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442912"/>
                  </a:moveTo>
                  <a:lnTo>
                    <a:pt x="0" y="476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1394" y="139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762" y="0"/>
                  </a:lnTo>
                  <a:lnTo>
                    <a:pt x="442912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6280" y="139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762"/>
                  </a:lnTo>
                  <a:lnTo>
                    <a:pt x="447674" y="442912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6280" y="446280"/>
                  </a:lnTo>
                  <a:lnTo>
                    <a:pt x="445350" y="447209"/>
                  </a:lnTo>
                  <a:lnTo>
                    <a:pt x="444227" y="447674"/>
                  </a:lnTo>
                  <a:lnTo>
                    <a:pt x="442912" y="447674"/>
                  </a:lnTo>
                  <a:lnTo>
                    <a:pt x="4762" y="447674"/>
                  </a:lnTo>
                  <a:lnTo>
                    <a:pt x="3447" y="447674"/>
                  </a:lnTo>
                  <a:lnTo>
                    <a:pt x="2324" y="447209"/>
                  </a:lnTo>
                  <a:lnTo>
                    <a:pt x="1394" y="446280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77394" y="3051745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67399" y="2657474"/>
            <a:ext cx="457200" cy="838200"/>
            <a:chOff x="5867399" y="2657474"/>
            <a:chExt cx="457200" cy="838200"/>
          </a:xfrm>
        </p:grpSpPr>
        <p:sp>
          <p:nvSpPr>
            <p:cNvPr id="16" name="object 16"/>
            <p:cNvSpPr/>
            <p:nvPr/>
          </p:nvSpPr>
          <p:spPr>
            <a:xfrm>
              <a:off x="6081712" y="2657474"/>
              <a:ext cx="28575" cy="386080"/>
            </a:xfrm>
            <a:custGeom>
              <a:avLst/>
              <a:gdLst/>
              <a:ahLst/>
              <a:cxnLst/>
              <a:rect l="l" t="t" r="r" b="b"/>
              <a:pathLst>
                <a:path w="28575" h="386080">
                  <a:moveTo>
                    <a:pt x="0" y="385762"/>
                  </a:moveTo>
                  <a:lnTo>
                    <a:pt x="28574" y="385762"/>
                  </a:lnTo>
                  <a:lnTo>
                    <a:pt x="28574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7216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4227" y="447674"/>
                  </a:moveTo>
                  <a:lnTo>
                    <a:pt x="3447" y="447674"/>
                  </a:lnTo>
                  <a:lnTo>
                    <a:pt x="2324" y="447209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5350" y="447209"/>
                  </a:lnTo>
                  <a:lnTo>
                    <a:pt x="444227" y="447674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7216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442912"/>
                  </a:moveTo>
                  <a:lnTo>
                    <a:pt x="0" y="476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1394" y="139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762" y="0"/>
                  </a:lnTo>
                  <a:lnTo>
                    <a:pt x="442912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6280" y="139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762"/>
                  </a:lnTo>
                  <a:lnTo>
                    <a:pt x="447674" y="442912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6280" y="446280"/>
                  </a:lnTo>
                  <a:lnTo>
                    <a:pt x="445350" y="447209"/>
                  </a:lnTo>
                  <a:lnTo>
                    <a:pt x="444227" y="447674"/>
                  </a:lnTo>
                  <a:lnTo>
                    <a:pt x="442912" y="447674"/>
                  </a:lnTo>
                  <a:lnTo>
                    <a:pt x="4762" y="447674"/>
                  </a:lnTo>
                  <a:lnTo>
                    <a:pt x="3447" y="447674"/>
                  </a:lnTo>
                  <a:lnTo>
                    <a:pt x="2324" y="447209"/>
                  </a:lnTo>
                  <a:lnTo>
                    <a:pt x="1394" y="446280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99211" y="3051745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3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91450" y="3038474"/>
            <a:ext cx="457200" cy="838200"/>
            <a:chOff x="7791450" y="3038474"/>
            <a:chExt cx="457200" cy="838200"/>
          </a:xfrm>
        </p:grpSpPr>
        <p:sp>
          <p:nvSpPr>
            <p:cNvPr id="22" name="object 22"/>
            <p:cNvSpPr/>
            <p:nvPr/>
          </p:nvSpPr>
          <p:spPr>
            <a:xfrm>
              <a:off x="8005762" y="3490912"/>
              <a:ext cx="28575" cy="386080"/>
            </a:xfrm>
            <a:custGeom>
              <a:avLst/>
              <a:gdLst/>
              <a:ahLst/>
              <a:cxnLst/>
              <a:rect l="l" t="t" r="r" b="b"/>
              <a:pathLst>
                <a:path w="28575" h="386079">
                  <a:moveTo>
                    <a:pt x="0" y="385762"/>
                  </a:moveTo>
                  <a:lnTo>
                    <a:pt x="28574" y="385762"/>
                  </a:lnTo>
                  <a:lnTo>
                    <a:pt x="28574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9621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4227" y="447674"/>
                  </a:moveTo>
                  <a:lnTo>
                    <a:pt x="3447" y="447674"/>
                  </a:lnTo>
                  <a:lnTo>
                    <a:pt x="2324" y="447209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5350" y="447209"/>
                  </a:lnTo>
                  <a:lnTo>
                    <a:pt x="444227" y="447674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96212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442912"/>
                  </a:moveTo>
                  <a:lnTo>
                    <a:pt x="0" y="476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1394" y="139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762" y="0"/>
                  </a:lnTo>
                  <a:lnTo>
                    <a:pt x="442912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6280" y="139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762"/>
                  </a:lnTo>
                  <a:lnTo>
                    <a:pt x="447674" y="442912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6280" y="446280"/>
                  </a:lnTo>
                  <a:lnTo>
                    <a:pt x="445350" y="447209"/>
                  </a:lnTo>
                  <a:lnTo>
                    <a:pt x="444227" y="447674"/>
                  </a:lnTo>
                  <a:lnTo>
                    <a:pt x="442912" y="447674"/>
                  </a:lnTo>
                  <a:lnTo>
                    <a:pt x="4762" y="447674"/>
                  </a:lnTo>
                  <a:lnTo>
                    <a:pt x="3447" y="447674"/>
                  </a:lnTo>
                  <a:lnTo>
                    <a:pt x="2324" y="447209"/>
                  </a:lnTo>
                  <a:lnTo>
                    <a:pt x="1394" y="446280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21178" y="3051745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4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15499" y="2657474"/>
            <a:ext cx="457200" cy="838200"/>
            <a:chOff x="9715499" y="2657474"/>
            <a:chExt cx="457200" cy="838200"/>
          </a:xfrm>
        </p:grpSpPr>
        <p:sp>
          <p:nvSpPr>
            <p:cNvPr id="29" name="object 29"/>
            <p:cNvSpPr/>
            <p:nvPr/>
          </p:nvSpPr>
          <p:spPr>
            <a:xfrm>
              <a:off x="9929811" y="2657474"/>
              <a:ext cx="28575" cy="386080"/>
            </a:xfrm>
            <a:custGeom>
              <a:avLst/>
              <a:gdLst/>
              <a:ahLst/>
              <a:cxnLst/>
              <a:rect l="l" t="t" r="r" b="b"/>
              <a:pathLst>
                <a:path w="28575" h="386080">
                  <a:moveTo>
                    <a:pt x="0" y="385762"/>
                  </a:moveTo>
                  <a:lnTo>
                    <a:pt x="28574" y="385762"/>
                  </a:lnTo>
                  <a:lnTo>
                    <a:pt x="28574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solidFill>
              <a:srgbClr val="0A6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20261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444227" y="447674"/>
                  </a:moveTo>
                  <a:lnTo>
                    <a:pt x="3447" y="447674"/>
                  </a:lnTo>
                  <a:lnTo>
                    <a:pt x="2324" y="447209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5350" y="447209"/>
                  </a:lnTo>
                  <a:lnTo>
                    <a:pt x="444227" y="447674"/>
                  </a:lnTo>
                  <a:close/>
                </a:path>
              </a:pathLst>
            </a:custGeom>
            <a:solidFill>
              <a:srgbClr val="DEE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720261" y="30432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442912"/>
                  </a:moveTo>
                  <a:lnTo>
                    <a:pt x="0" y="4762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1394" y="139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4762" y="0"/>
                  </a:lnTo>
                  <a:lnTo>
                    <a:pt x="442912" y="0"/>
                  </a:lnTo>
                  <a:lnTo>
                    <a:pt x="444227" y="0"/>
                  </a:lnTo>
                  <a:lnTo>
                    <a:pt x="445350" y="464"/>
                  </a:lnTo>
                  <a:lnTo>
                    <a:pt x="446280" y="1394"/>
                  </a:lnTo>
                  <a:lnTo>
                    <a:pt x="447209" y="2324"/>
                  </a:lnTo>
                  <a:lnTo>
                    <a:pt x="447674" y="3447"/>
                  </a:lnTo>
                  <a:lnTo>
                    <a:pt x="447674" y="4762"/>
                  </a:lnTo>
                  <a:lnTo>
                    <a:pt x="447674" y="442912"/>
                  </a:lnTo>
                  <a:lnTo>
                    <a:pt x="447674" y="444227"/>
                  </a:lnTo>
                  <a:lnTo>
                    <a:pt x="447209" y="445350"/>
                  </a:lnTo>
                  <a:lnTo>
                    <a:pt x="446280" y="446280"/>
                  </a:lnTo>
                  <a:lnTo>
                    <a:pt x="445350" y="447209"/>
                  </a:lnTo>
                  <a:lnTo>
                    <a:pt x="444227" y="447674"/>
                  </a:lnTo>
                  <a:lnTo>
                    <a:pt x="442912" y="447674"/>
                  </a:lnTo>
                  <a:lnTo>
                    <a:pt x="4762" y="447674"/>
                  </a:lnTo>
                  <a:lnTo>
                    <a:pt x="3447" y="447674"/>
                  </a:lnTo>
                  <a:lnTo>
                    <a:pt x="2324" y="447209"/>
                  </a:lnTo>
                  <a:lnTo>
                    <a:pt x="1394" y="446280"/>
                  </a:lnTo>
                  <a:lnTo>
                    <a:pt x="464" y="445350"/>
                  </a:lnTo>
                  <a:lnTo>
                    <a:pt x="0" y="444227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0A6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843144" y="3051745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03A40"/>
                </a:solidFill>
                <a:latin typeface="Trebuchet MS"/>
                <a:cs typeface="Trebuchet MS"/>
              </a:rPr>
              <a:t>5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07592" y="4041806"/>
            <a:ext cx="273304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03A40"/>
                </a:solidFill>
                <a:latin typeface="Trebuchet MS"/>
                <a:cs typeface="Trebuchet MS"/>
              </a:rPr>
              <a:t>Consulta</a:t>
            </a:r>
            <a:endParaRPr sz="1900">
              <a:latin typeface="Trebuchet MS"/>
              <a:cs typeface="Trebuchet MS"/>
            </a:endParaRPr>
          </a:p>
          <a:p>
            <a:pPr marL="12065" marR="5080" algn="ctr">
              <a:lnSpc>
                <a:spcPct val="117200"/>
              </a:lnSpc>
              <a:spcBef>
                <a:spcPts val="915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 manejador consulta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el </a:t>
            </a:r>
            <a:r>
              <a:rPr sz="1600" spc="-20" dirty="0">
                <a:solidFill>
                  <a:srgbClr val="203A40"/>
                </a:solidFill>
                <a:latin typeface="Trebuchet MS"/>
                <a:cs typeface="Trebuchet MS"/>
              </a:rPr>
              <a:t>inventario: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hay</a:t>
            </a:r>
            <a:r>
              <a:rPr sz="1600" spc="-3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203A40"/>
                </a:solidFill>
                <a:latin typeface="Trebuchet MS"/>
                <a:cs typeface="Trebuchet MS"/>
              </a:rPr>
              <a:t>dos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portátiles disponibles.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48548" y="4495799"/>
            <a:ext cx="1866900" cy="276225"/>
          </a:xfrm>
          <a:custGeom>
            <a:avLst/>
            <a:gdLst/>
            <a:ahLst/>
            <a:cxnLst/>
            <a:rect l="l" t="t" r="r" b="b"/>
            <a:pathLst>
              <a:path w="1866900" h="276225">
                <a:moveTo>
                  <a:pt x="1844868" y="276224"/>
                </a:moveTo>
                <a:lnTo>
                  <a:pt x="22032" y="276224"/>
                </a:lnTo>
                <a:lnTo>
                  <a:pt x="18791" y="275580"/>
                </a:lnTo>
                <a:lnTo>
                  <a:pt x="0" y="254192"/>
                </a:lnTo>
                <a:lnTo>
                  <a:pt x="0" y="250825"/>
                </a:lnTo>
                <a:lnTo>
                  <a:pt x="0" y="22031"/>
                </a:lnTo>
                <a:lnTo>
                  <a:pt x="22032" y="0"/>
                </a:lnTo>
                <a:lnTo>
                  <a:pt x="1844868" y="0"/>
                </a:lnTo>
                <a:lnTo>
                  <a:pt x="1866899" y="22031"/>
                </a:lnTo>
                <a:lnTo>
                  <a:pt x="1866899" y="254192"/>
                </a:lnTo>
                <a:lnTo>
                  <a:pt x="1848107" y="275580"/>
                </a:lnTo>
                <a:lnTo>
                  <a:pt x="1844868" y="276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31110" y="4041806"/>
            <a:ext cx="317373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203A40"/>
                </a:solidFill>
                <a:latin typeface="Trebuchet MS"/>
                <a:cs typeface="Trebuchet MS"/>
              </a:rPr>
              <a:t>Publicación</a:t>
            </a:r>
            <a:endParaRPr sz="1900">
              <a:latin typeface="Trebuchet MS"/>
              <a:cs typeface="Trebuchet MS"/>
            </a:endParaRPr>
          </a:p>
          <a:p>
            <a:pPr marL="12065" marR="5080" algn="ctr">
              <a:lnSpc>
                <a:spcPct val="117200"/>
              </a:lnSpc>
              <a:spcBef>
                <a:spcPts val="990"/>
              </a:spcBef>
            </a:pP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Se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publica</a:t>
            </a:r>
            <a:r>
              <a:rPr sz="1600" spc="2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203A40"/>
                </a:solidFill>
                <a:latin typeface="Lucida Sans Unicode"/>
                <a:cs typeface="Lucida Sans Unicode"/>
              </a:rPr>
              <a:t>PrestamoAprobado</a:t>
            </a:r>
            <a:r>
              <a:rPr sz="1600" dirty="0">
                <a:solidFill>
                  <a:srgbClr val="203A40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203A40"/>
                </a:solidFill>
                <a:latin typeface="Trebuchet MS"/>
                <a:cs typeface="Trebuchet MS"/>
              </a:rPr>
              <a:t>en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el</a:t>
            </a:r>
            <a:r>
              <a:rPr sz="1600" spc="-55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03A40"/>
                </a:solidFill>
                <a:latin typeface="Trebuchet MS"/>
                <a:cs typeface="Trebuchet MS"/>
              </a:rPr>
              <a:t>bus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3A40"/>
                </a:solidFill>
                <a:latin typeface="Trebuchet MS"/>
                <a:cs typeface="Trebuchet MS"/>
              </a:rPr>
              <a:t>de</a:t>
            </a:r>
            <a:r>
              <a:rPr sz="1600" spc="-50" dirty="0">
                <a:solidFill>
                  <a:srgbClr val="203A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3A40"/>
                </a:solidFill>
                <a:latin typeface="Trebuchet MS"/>
                <a:cs typeface="Trebuchet MS"/>
              </a:rPr>
              <a:t>eventos.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4500" y="5962713"/>
            <a:ext cx="334517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A6F83"/>
                </a:solidFill>
                <a:latin typeface="Courier New"/>
                <a:cs typeface="Courier New"/>
              </a:rPr>
              <a:t>Resultado:</a:t>
            </a:r>
            <a:r>
              <a:rPr sz="1100" spc="3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A6F83"/>
                </a:solidFill>
                <a:latin typeface="Courier New"/>
                <a:cs typeface="Courier New"/>
              </a:rPr>
              <a:t>queda</a:t>
            </a:r>
            <a:r>
              <a:rPr sz="1100" spc="3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A6F83"/>
                </a:solidFill>
                <a:latin typeface="Courier New"/>
                <a:cs typeface="Courier New"/>
              </a:rPr>
              <a:t>1</a:t>
            </a:r>
            <a:r>
              <a:rPr sz="1100" spc="3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A6F83"/>
                </a:solidFill>
                <a:latin typeface="Courier New"/>
                <a:cs typeface="Courier New"/>
              </a:rPr>
              <a:t>portátil</a:t>
            </a:r>
            <a:r>
              <a:rPr sz="1100" spc="30" dirty="0">
                <a:solidFill>
                  <a:srgbClr val="0A6F83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A6F83"/>
                </a:solidFill>
                <a:latin typeface="Courier New"/>
                <a:cs typeface="Courier New"/>
              </a:rPr>
              <a:t>disponible.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Actividad</a:t>
            </a:r>
            <a:r>
              <a:rPr spc="185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Arquitectura</a:t>
            </a:r>
            <a:r>
              <a:rPr spc="190" dirty="0"/>
              <a:t> </a:t>
            </a:r>
            <a:r>
              <a:rPr dirty="0"/>
              <a:t>de</a:t>
            </a:r>
            <a:r>
              <a:rPr spc="190" dirty="0"/>
              <a:t> </a:t>
            </a:r>
            <a:r>
              <a:rPr dirty="0"/>
              <a:t>Software</a:t>
            </a:r>
            <a:r>
              <a:rPr spc="190" dirty="0"/>
              <a:t> </a:t>
            </a:r>
            <a:r>
              <a:rPr spc="-50" dirty="0"/>
              <a:t>·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Equipo</a:t>
            </a:r>
            <a:r>
              <a:rPr spc="175" dirty="0"/>
              <a:t> </a:t>
            </a:r>
            <a:r>
              <a:rPr spc="-50" dirty="0"/>
              <a:t>4</a:t>
            </a:r>
          </a:p>
        </p:txBody>
      </p:sp>
      <p:pic>
        <p:nvPicPr>
          <p:cNvPr id="35" name="object 3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1546333" y="6533764"/>
            <a:ext cx="197485" cy="1930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solidFill>
                  <a:srgbClr val="203A40"/>
                </a:solidFill>
                <a:latin typeface="Courier New"/>
                <a:cs typeface="Courier New"/>
                <a:hlinkClick r:id="rId2"/>
              </a:rPr>
              <a:t>10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3A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850</Words>
  <Application>Microsoft Office PowerPoint</Application>
  <PresentationFormat>Panorámica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Lucida Sans Unicode</vt:lpstr>
      <vt:lpstr>Times New Roman</vt:lpstr>
      <vt:lpstr>Trebuchet MS</vt:lpstr>
      <vt:lpstr>Office Theme</vt:lpstr>
      <vt:lpstr>Sistema de préstamos de equipos: arquitectura orientada a</vt:lpstr>
      <vt:lpstr>Qué vamos a mostrar</vt:lpstr>
      <vt:lpstr>El problema: préstamos de equipos en memoria</vt:lpstr>
      <vt:lpstr>Reglas funcionales que debe cumplir el sistema</vt:lpstr>
      <vt:lpstr>Por qué Python</vt:lpstr>
      <vt:lpstr>Por qué es arquitectura orientada a eventos</vt:lpstr>
      <vt:lpstr>Estructura mínima de archivos</vt:lpstr>
      <vt:lpstr>Contratos principales</vt:lpstr>
      <vt:lpstr>Los dos eventos del sistema</vt:lpstr>
      <vt:lpstr>Flujo aprobado: Ana solicita un portátil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préstamos de equipos: arquitectura orientada a</dc:title>
  <dc:creator>Alumna</dc:creator>
  <cp:lastModifiedBy>Alumna</cp:lastModifiedBy>
  <cp:revision>1</cp:revision>
  <dcterms:created xsi:type="dcterms:W3CDTF">2026-09-30T23:44:41Z</dcterms:created>
  <dcterms:modified xsi:type="dcterms:W3CDTF">2026-09-30T23:46:13Z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2026-09-17T00:00:00Z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2026-09-30T00:00:00Z</vt:filetime>
  </property>
  <property fmtid="{D5CDD505-2E9C-101B-9397-08002B2CF9AE}" pid="6" name="Producer">
    <vt:lpwstr>pdf-lib (https://github.com/Hopding/pdf-lib)</vt:lpwstr>
  </property>
</Properties>
</file>